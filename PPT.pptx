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sldIdLst>
    <p:sldId id="256" r:id="rId2"/>
    <p:sldId id="257" r:id="rId3"/>
    <p:sldId id="258" r:id="rId4"/>
    <p:sldId id="269" r:id="rId5"/>
    <p:sldId id="259" r:id="rId6"/>
    <p:sldId id="261" r:id="rId7"/>
    <p:sldId id="260" r:id="rId8"/>
    <p:sldId id="262" r:id="rId9"/>
    <p:sldId id="263" r:id="rId10"/>
    <p:sldId id="264" r:id="rId11"/>
    <p:sldId id="271" r:id="rId12"/>
    <p:sldId id="272" r:id="rId13"/>
    <p:sldId id="266" r:id="rId14"/>
    <p:sldId id="267" r:id="rId15"/>
    <p:sldId id="270" r:id="rId16"/>
    <p:sldId id="273" r:id="rId17"/>
    <p:sldId id="274" r:id="rId18"/>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00B8E25A-A80D-A80E-BF85-C9A097F8116F}" v="68" dt="2026-01-19T10:31:27.622"/>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78" d="100"/>
          <a:sy n="78" d="100"/>
        </p:scale>
        <p:origin x="850" y="6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23" Type="http://schemas.microsoft.com/office/2015/10/relationships/revisionInfo" Target="revisionInfo.xml"/><Relationship Id="rId10" Type="http://schemas.openxmlformats.org/officeDocument/2006/relationships/slide" Target="slides/slide9.xml"/><Relationship Id="rId19"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ableStyles" Target="tableStyle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p:cNvSpPr>
            <a:spLocks noGrp="1"/>
          </p:cNvSpPr>
          <p:nvPr>
            <p:ph type="dt" sz="half" idx="10"/>
          </p:nvPr>
        </p:nvSpPr>
        <p:spPr/>
        <p:txBody>
          <a:bodyPr/>
          <a:lstStyle/>
          <a:p>
            <a:fld id="{846CE7D5-CF57-46EF-B807-FDD0502418D4}" type="datetimeFigureOut">
              <a:rPr lang="en-US" smtClean="0"/>
              <a:t>3/16/2026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238538789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846CE7D5-CF57-46EF-B807-FDD0502418D4}" type="datetimeFigureOut">
              <a:rPr lang="en-US" smtClean="0"/>
              <a:t>3/16/2026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94913845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846CE7D5-CF57-46EF-B807-FDD0502418D4}" type="datetimeFigureOut">
              <a:rPr lang="en-US" smtClean="0"/>
              <a:t>3/16/2026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259152452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846CE7D5-CF57-46EF-B807-FDD0502418D4}" type="datetimeFigureOut">
              <a:rPr lang="en-US" smtClean="0"/>
              <a:t>3/16/2026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120309203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846CE7D5-CF57-46EF-B807-FDD0502418D4}" type="datetimeFigureOut">
              <a:rPr lang="en-US" smtClean="0"/>
              <a:t>3/16/2026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373317233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846CE7D5-CF57-46EF-B807-FDD0502418D4}" type="datetimeFigureOut">
              <a:rPr lang="en-US" smtClean="0"/>
              <a:t>3/16/2026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321031255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846CE7D5-CF57-46EF-B807-FDD0502418D4}" type="datetimeFigureOut">
              <a:rPr lang="en-US" smtClean="0"/>
              <a:t>3/16/2026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314638898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846CE7D5-CF57-46EF-B807-FDD0502418D4}" type="datetimeFigureOut">
              <a:rPr lang="en-US" smtClean="0"/>
              <a:t>3/16/2026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317184145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p:cNvSpPr>
            <a:spLocks noGrp="1" noChangeAspect="1"/>
          </p:cNvSpPr>
          <p:nvPr>
            <p:ph type="pic" idx="1"/>
          </p:nvPr>
        </p:nvSpPr>
        <p:spPr>
          <a:xfrm>
            <a:off x="5183188" y="987425"/>
            <a:ext cx="617220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846CE7D5-CF57-46EF-B807-FDD0502418D4}" type="datetimeFigureOut">
              <a:rPr lang="en-US" smtClean="0"/>
              <a:t>3/16/2026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171895827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846CE7D5-CF57-46EF-B807-FDD0502418D4}" type="datetimeFigureOut">
              <a:rPr lang="en-US" smtClean="0"/>
              <a:t>3/16/2026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220290545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846CE7D5-CF57-46EF-B807-FDD0502418D4}" type="datetimeFigureOut">
              <a:rPr lang="en-US" smtClean="0"/>
              <a:t>3/16/2026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347944565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846CE7D5-CF57-46EF-B807-FDD0502418D4}" type="datetimeFigureOut">
              <a:rPr lang="en-US" smtClean="0"/>
              <a:t>3/16/2026</a:t>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330EA680-D336-4FF7-8B7A-9848BB0A1C32}" type="slidenum">
              <a:rPr lang="en-US" smtClean="0"/>
              <a:t>‹#›</a:t>
            </a:fld>
            <a:endParaRPr lang="en-US"/>
          </a:p>
        </p:txBody>
      </p:sp>
    </p:spTree>
    <p:extLst>
      <p:ext uri="{BB962C8B-B14F-4D97-AF65-F5344CB8AC3E}">
        <p14:creationId xmlns:p14="http://schemas.microsoft.com/office/powerpoint/2010/main" val="2460954070"/>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p:bgPr>
        <a:blipFill>
          <a:blip r:embed="rId2"/>
          <a:stretch>
            <a:fillRect l="-2000" r="-2000"/>
          </a:stretch>
        </a:blipFill>
        <a:effectLst/>
      </p:bgPr>
    </p:bg>
    <p:spTree>
      <p:nvGrpSpPr>
        <p:cNvPr id="1" name=""/>
        <p:cNvGrpSpPr/>
        <p:nvPr/>
      </p:nvGrpSpPr>
      <p:grpSpPr>
        <a:xfrm>
          <a:off x="0" y="0"/>
          <a:ext cx="0" cy="0"/>
          <a:chOff x="0" y="0"/>
          <a:chExt cx="0" cy="0"/>
        </a:xfrm>
      </p:grpSpPr>
      <p:sp>
        <p:nvSpPr>
          <p:cNvPr id="2" name="Title 1"/>
          <p:cNvSpPr>
            <a:spLocks noGrp="1"/>
          </p:cNvSpPr>
          <p:nvPr>
            <p:ph type="ctrTitle"/>
          </p:nvPr>
        </p:nvSpPr>
        <p:spPr>
          <a:xfrm>
            <a:off x="821635" y="2354815"/>
            <a:ext cx="10542104" cy="923235"/>
          </a:xfrm>
        </p:spPr>
        <p:txBody>
          <a:bodyPr>
            <a:normAutofit/>
          </a:bodyPr>
          <a:lstStyle/>
          <a:p>
            <a:r>
              <a:rPr lang="en-US" b="1" dirty="0">
                <a:solidFill>
                  <a:schemeClr val="tx2">
                    <a:lumMod val="76000"/>
                    <a:lumOff val="24000"/>
                  </a:schemeClr>
                </a:solidFill>
              </a:rPr>
              <a:t>MANUFACTURING ANALYTICS </a:t>
            </a:r>
          </a:p>
        </p:txBody>
      </p:sp>
      <p:sp>
        <p:nvSpPr>
          <p:cNvPr id="3" name="Subtitle 2"/>
          <p:cNvSpPr>
            <a:spLocks noGrp="1"/>
          </p:cNvSpPr>
          <p:nvPr>
            <p:ph type="subTitle" idx="1"/>
          </p:nvPr>
        </p:nvSpPr>
        <p:spPr/>
        <p:txBody>
          <a:bodyPr vert="horz" lIns="91440" tIns="45720" rIns="91440" bIns="45720" rtlCol="0" anchor="t">
            <a:normAutofit/>
          </a:bodyPr>
          <a:lstStyle/>
          <a:p>
            <a:r>
              <a:rPr lang="en-US" dirty="0"/>
              <a:t>                                                        </a:t>
            </a:r>
            <a:r>
              <a:rPr lang="en-US" dirty="0">
                <a:solidFill>
                  <a:srgbClr val="000000"/>
                </a:solidFill>
              </a:rPr>
              <a:t>                                             </a:t>
            </a:r>
            <a:endParaRPr lang="en-US" b="1" dirty="0">
              <a:solidFill>
                <a:schemeClr val="tx2">
                  <a:lumMod val="76000"/>
                  <a:lumOff val="24000"/>
                </a:schemeClr>
              </a:solidFill>
            </a:endParaRPr>
          </a:p>
        </p:txBody>
      </p:sp>
      <p:sp>
        <p:nvSpPr>
          <p:cNvPr id="4" name="TextBox 3">
            <a:extLst>
              <a:ext uri="{FF2B5EF4-FFF2-40B4-BE49-F238E27FC236}">
                <a16:creationId xmlns:a16="http://schemas.microsoft.com/office/drawing/2014/main" id="{451B9004-C62B-163D-2E29-B23FAC2C5F41}"/>
              </a:ext>
            </a:extLst>
          </p:cNvPr>
          <p:cNvSpPr txBox="1"/>
          <p:nvPr/>
        </p:nvSpPr>
        <p:spPr>
          <a:xfrm>
            <a:off x="3050875" y="3429000"/>
            <a:ext cx="6096000" cy="46166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n-US" sz="2400" b="1" dirty="0">
                <a:solidFill>
                  <a:srgbClr val="205C96"/>
                </a:solidFill>
                <a:latin typeface="Aptos"/>
              </a:rPr>
              <a:t>PROJECT: P1068 </a:t>
            </a:r>
            <a:r>
              <a:rPr sz="2400" dirty="0">
                <a:latin typeface="Aptos"/>
                <a:ea typeface="Aptos"/>
                <a:cs typeface="Aptos"/>
              </a:rPr>
              <a:t>​</a:t>
            </a:r>
            <a:endParaRPr lang="en-US" dirty="0"/>
          </a:p>
        </p:txBody>
      </p:sp>
    </p:spTree>
    <p:extLst>
      <p:ext uri="{BB962C8B-B14F-4D97-AF65-F5344CB8AC3E}">
        <p14:creationId xmlns:p14="http://schemas.microsoft.com/office/powerpoint/2010/main" val="10985722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bg>
      <p:bgPr>
        <a:blipFill>
          <a:blip r:embed="rId2"/>
          <a:stretch>
            <a:fillRect l="-2000" r="-2000"/>
          </a:stretch>
        </a:blip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3AEBE953-4520-F40A-C99C-370502E9502D}"/>
              </a:ext>
            </a:extLst>
          </p:cNvPr>
          <p:cNvSpPr txBox="1"/>
          <p:nvPr/>
        </p:nvSpPr>
        <p:spPr>
          <a:xfrm>
            <a:off x="2274817" y="748053"/>
            <a:ext cx="7636933" cy="46166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n-US" sz="2400" b="1">
                <a:solidFill>
                  <a:schemeClr val="tx2">
                    <a:lumMod val="90000"/>
                    <a:lumOff val="10000"/>
                  </a:schemeClr>
                </a:solidFill>
                <a:latin typeface="Aptos"/>
                <a:cs typeface="Angsana New"/>
              </a:rPr>
              <a:t>INTRODUCTION</a:t>
            </a:r>
            <a:endParaRPr lang="en-US">
              <a:solidFill>
                <a:schemeClr val="tx2">
                  <a:lumMod val="90000"/>
                  <a:lumOff val="10000"/>
                </a:schemeClr>
              </a:solidFill>
              <a:latin typeface="Aptos"/>
              <a:cs typeface="Angsana New"/>
            </a:endParaRPr>
          </a:p>
        </p:txBody>
      </p:sp>
      <p:sp>
        <p:nvSpPr>
          <p:cNvPr id="3" name="TextBox 2">
            <a:extLst>
              <a:ext uri="{FF2B5EF4-FFF2-40B4-BE49-F238E27FC236}">
                <a16:creationId xmlns:a16="http://schemas.microsoft.com/office/drawing/2014/main" id="{0B3AF5E5-39A6-7D20-2D41-488243B4A49F}"/>
              </a:ext>
            </a:extLst>
          </p:cNvPr>
          <p:cNvSpPr txBox="1"/>
          <p:nvPr/>
        </p:nvSpPr>
        <p:spPr>
          <a:xfrm>
            <a:off x="899200" y="1717722"/>
            <a:ext cx="10806643" cy="3170099"/>
          </a:xfrm>
          <a:prstGeom prst="rect">
            <a:avLst/>
          </a:prstGeom>
          <a:noFill/>
        </p:spPr>
        <p:txBody>
          <a:bodyPr rot="0" spcFirstLastPara="0" vertOverflow="overflow" horzOverflow="overflow" vert="horz" wrap="square" lIns="91440" tIns="45720" rIns="91440" bIns="45720" numCol="1" spcCol="0" rtlCol="0" fromWordArt="0" anchor="ctr" anchorCtr="0" forceAA="0" compatLnSpc="1">
            <a:prstTxWarp prst="textNoShape">
              <a:avLst/>
            </a:prstTxWarp>
            <a:spAutoFit/>
          </a:bodyPr>
          <a:lstStyle/>
          <a:p>
            <a:pPr marL="342900" indent="-342900">
              <a:buFont typeface="Arial"/>
              <a:buChar char="•"/>
            </a:pPr>
            <a:r>
              <a:rPr lang="en-US" sz="2000" b="1">
                <a:solidFill>
                  <a:schemeClr val="tx2">
                    <a:lumMod val="76000"/>
                    <a:lumOff val="24000"/>
                  </a:schemeClr>
                </a:solidFill>
              </a:rPr>
              <a:t>Domain:</a:t>
            </a:r>
            <a:r>
              <a:rPr lang="en-US" sz="2000">
                <a:solidFill>
                  <a:schemeClr val="tx2">
                    <a:lumMod val="76000"/>
                    <a:lumOff val="24000"/>
                  </a:schemeClr>
                </a:solidFill>
              </a:rPr>
              <a:t> </a:t>
            </a:r>
            <a:endParaRPr lang="en-US">
              <a:solidFill>
                <a:schemeClr val="tx2">
                  <a:lumMod val="76000"/>
                  <a:lumOff val="24000"/>
                </a:schemeClr>
              </a:solidFill>
            </a:endParaRPr>
          </a:p>
          <a:p>
            <a:r>
              <a:rPr lang="en-US" sz="2000">
                <a:solidFill>
                  <a:schemeClr val="tx2">
                    <a:lumMod val="76000"/>
                    <a:lumOff val="24000"/>
                  </a:schemeClr>
                </a:solidFill>
              </a:rPr>
              <a:t>      Manufacture</a:t>
            </a:r>
          </a:p>
          <a:p>
            <a:pPr marL="342900" indent="-342900">
              <a:buFont typeface="Arial"/>
              <a:buChar char="•"/>
            </a:pPr>
            <a:endParaRPr lang="en-US" sz="2000">
              <a:solidFill>
                <a:schemeClr val="tx2">
                  <a:lumMod val="76000"/>
                  <a:lumOff val="24000"/>
                </a:schemeClr>
              </a:solidFill>
            </a:endParaRPr>
          </a:p>
          <a:p>
            <a:pPr marL="342900" indent="-342900">
              <a:buFont typeface="Arial"/>
              <a:buChar char="•"/>
            </a:pPr>
            <a:r>
              <a:rPr lang="en-US" sz="2000" b="1">
                <a:solidFill>
                  <a:schemeClr val="tx2">
                    <a:lumMod val="76000"/>
                    <a:lumOff val="24000"/>
                  </a:schemeClr>
                </a:solidFill>
              </a:rPr>
              <a:t>Business Problem:</a:t>
            </a:r>
            <a:br>
              <a:rPr lang="en-US" sz="2000" b="1">
                <a:ea typeface="+mn-lt"/>
                <a:cs typeface="+mn-lt"/>
              </a:rPr>
            </a:br>
            <a:r>
              <a:rPr lang="en-US" sz="2000">
                <a:solidFill>
                  <a:schemeClr val="tx2">
                    <a:lumMod val="76000"/>
                    <a:lumOff val="24000"/>
                  </a:schemeClr>
                </a:solidFill>
                <a:ea typeface="+mn-lt"/>
                <a:cs typeface="+mn-lt"/>
              </a:rPr>
              <a:t>The manufacturing process is producing inconsistent quality. This leads to increased waste, higher rework costs, and reduced operational efficiency.</a:t>
            </a:r>
          </a:p>
          <a:p>
            <a:pPr marL="342900" indent="-342900">
              <a:buFont typeface="Arial"/>
              <a:buChar char="•"/>
            </a:pPr>
            <a:endParaRPr lang="en-US" sz="2000">
              <a:solidFill>
                <a:schemeClr val="tx2">
                  <a:lumMod val="76000"/>
                  <a:lumOff val="24000"/>
                </a:schemeClr>
              </a:solidFill>
            </a:endParaRPr>
          </a:p>
          <a:p>
            <a:pPr marL="342900" indent="-342900">
              <a:buFont typeface="Arial"/>
              <a:buChar char="•"/>
            </a:pPr>
            <a:r>
              <a:rPr lang="en-US" sz="2000" b="1">
                <a:solidFill>
                  <a:schemeClr val="tx2">
                    <a:lumMod val="76000"/>
                    <a:lumOff val="24000"/>
                  </a:schemeClr>
                </a:solidFill>
              </a:rPr>
              <a:t>Goal:</a:t>
            </a:r>
            <a:r>
              <a:rPr lang="en-US" sz="2000">
                <a:solidFill>
                  <a:schemeClr val="tx2">
                    <a:lumMod val="76000"/>
                    <a:lumOff val="24000"/>
                  </a:schemeClr>
                </a:solidFill>
              </a:rPr>
              <a:t>To</a:t>
            </a:r>
            <a:r>
              <a:rPr lang="en-US" sz="2000">
                <a:solidFill>
                  <a:schemeClr val="tx2">
                    <a:lumMod val="76000"/>
                    <a:lumOff val="24000"/>
                  </a:schemeClr>
                </a:solidFill>
                <a:ea typeface="+mn-lt"/>
                <a:cs typeface="+mn-lt"/>
              </a:rPr>
              <a:t> improve manufacturing quality and consistency by identifying and addressing the root causes  across different areas, reducing waste and rework, increasing usable output, enhancing overall production efficiency .</a:t>
            </a:r>
          </a:p>
        </p:txBody>
      </p:sp>
    </p:spTree>
    <p:extLst>
      <p:ext uri="{BB962C8B-B14F-4D97-AF65-F5344CB8AC3E}">
        <p14:creationId xmlns:p14="http://schemas.microsoft.com/office/powerpoint/2010/main" val="136112674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bg>
      <p:bgPr>
        <a:blipFill>
          <a:blip r:embed="rId2"/>
          <a:stretch>
            <a:fillRect l="-2000" r="-2000"/>
          </a:stretch>
        </a:blipFill>
        <a:effectLst/>
      </p:bgPr>
    </p:bg>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962A6A85-BC65-9480-7405-6FC9D93F13CB}"/>
              </a:ext>
            </a:extLst>
          </p:cNvPr>
          <p:cNvSpPr txBox="1"/>
          <p:nvPr/>
        </p:nvSpPr>
        <p:spPr>
          <a:xfrm>
            <a:off x="3048000" y="670031"/>
            <a:ext cx="6096000" cy="46166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n-US" sz="2400" b="1">
                <a:solidFill>
                  <a:schemeClr val="tx2">
                    <a:lumMod val="90000"/>
                    <a:lumOff val="10000"/>
                  </a:schemeClr>
                </a:solidFill>
                <a:latin typeface="Aptos"/>
              </a:rPr>
              <a:t>DATA OVERVIEW</a:t>
            </a:r>
            <a:endParaRPr lang="en-US" b="1">
              <a:solidFill>
                <a:schemeClr val="tx2">
                  <a:lumMod val="90000"/>
                  <a:lumOff val="10000"/>
                </a:schemeClr>
              </a:solidFill>
            </a:endParaRPr>
          </a:p>
        </p:txBody>
      </p:sp>
      <p:sp>
        <p:nvSpPr>
          <p:cNvPr id="2" name="TextBox 1">
            <a:extLst>
              <a:ext uri="{FF2B5EF4-FFF2-40B4-BE49-F238E27FC236}">
                <a16:creationId xmlns:a16="http://schemas.microsoft.com/office/drawing/2014/main" id="{5551876E-1C46-FAAC-0E8E-AE6F0F1B8984}"/>
              </a:ext>
            </a:extLst>
          </p:cNvPr>
          <p:cNvSpPr txBox="1"/>
          <p:nvPr/>
        </p:nvSpPr>
        <p:spPr>
          <a:xfrm>
            <a:off x="639659" y="1147255"/>
            <a:ext cx="2743199" cy="36576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l"/>
            <a:endParaRPr lang="en-US"/>
          </a:p>
        </p:txBody>
      </p:sp>
      <p:sp>
        <p:nvSpPr>
          <p:cNvPr id="4" name="TextBox 3">
            <a:extLst>
              <a:ext uri="{FF2B5EF4-FFF2-40B4-BE49-F238E27FC236}">
                <a16:creationId xmlns:a16="http://schemas.microsoft.com/office/drawing/2014/main" id="{4BD7F753-402E-0E36-D079-200A8BABD61B}"/>
              </a:ext>
            </a:extLst>
          </p:cNvPr>
          <p:cNvSpPr txBox="1"/>
          <p:nvPr/>
        </p:nvSpPr>
        <p:spPr>
          <a:xfrm>
            <a:off x="810334" y="1327803"/>
            <a:ext cx="11179936" cy="347787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342900" indent="-342900">
              <a:buFont typeface="Arial"/>
              <a:buChar char="•"/>
            </a:pPr>
            <a:r>
              <a:rPr lang="en-US" sz="2000" b="1">
                <a:solidFill>
                  <a:schemeClr val="tx2">
                    <a:lumMod val="76000"/>
                    <a:lumOff val="24000"/>
                  </a:schemeClr>
                </a:solidFill>
              </a:rPr>
              <a:t>File: </a:t>
            </a:r>
            <a:r>
              <a:rPr lang="en-US" sz="2000">
                <a:solidFill>
                  <a:schemeClr val="tx2">
                    <a:lumMod val="76000"/>
                    <a:lumOff val="24000"/>
                  </a:schemeClr>
                </a:solidFill>
              </a:rPr>
              <a:t>         </a:t>
            </a:r>
          </a:p>
          <a:p>
            <a:r>
              <a:rPr lang="en-US" sz="2000">
                <a:solidFill>
                  <a:schemeClr val="tx2">
                    <a:lumMod val="76000"/>
                    <a:lumOff val="24000"/>
                  </a:schemeClr>
                </a:solidFill>
              </a:rPr>
              <a:t>       Manufactured analytics. Xlsx </a:t>
            </a:r>
          </a:p>
          <a:p>
            <a:pPr marL="342900" indent="-342900">
              <a:buFont typeface="Arial"/>
              <a:buChar char="•"/>
            </a:pPr>
            <a:endParaRPr lang="en-US" sz="2000">
              <a:solidFill>
                <a:schemeClr val="tx2">
                  <a:lumMod val="76000"/>
                  <a:lumOff val="24000"/>
                </a:schemeClr>
              </a:solidFill>
            </a:endParaRPr>
          </a:p>
          <a:p>
            <a:pPr marL="342900" indent="-342900">
              <a:buFont typeface="Arial"/>
              <a:buChar char="•"/>
            </a:pPr>
            <a:r>
              <a:rPr lang="en-US" sz="2000" b="1">
                <a:solidFill>
                  <a:schemeClr val="tx2">
                    <a:lumMod val="76000"/>
                    <a:lumOff val="24000"/>
                  </a:schemeClr>
                </a:solidFill>
              </a:rPr>
              <a:t>Size:</a:t>
            </a:r>
            <a:r>
              <a:rPr lang="en-US" sz="2000">
                <a:solidFill>
                  <a:schemeClr val="tx2">
                    <a:lumMod val="76000"/>
                    <a:lumOff val="24000"/>
                  </a:schemeClr>
                </a:solidFill>
              </a:rPr>
              <a:t>         </a:t>
            </a:r>
          </a:p>
          <a:p>
            <a:r>
              <a:rPr lang="en-US" sz="2000">
                <a:solidFill>
                  <a:schemeClr val="tx2">
                    <a:lumMod val="76000"/>
                    <a:lumOff val="24000"/>
                  </a:schemeClr>
                </a:solidFill>
              </a:rPr>
              <a:t>       6431 rows across 64 columns </a:t>
            </a:r>
          </a:p>
          <a:p>
            <a:pPr marL="342900" indent="-342900">
              <a:buFont typeface="Arial"/>
              <a:buChar char="•"/>
            </a:pPr>
            <a:endParaRPr lang="en-US" sz="2000">
              <a:solidFill>
                <a:schemeClr val="tx2">
                  <a:lumMod val="76000"/>
                  <a:lumOff val="24000"/>
                </a:schemeClr>
              </a:solidFill>
              <a:ea typeface="+mn-lt"/>
              <a:cs typeface="+mn-lt"/>
            </a:endParaRPr>
          </a:p>
          <a:p>
            <a:pPr marL="342900" indent="-342900">
              <a:buFont typeface="Arial"/>
              <a:buChar char="•"/>
            </a:pPr>
            <a:r>
              <a:rPr lang="en-US" sz="2000" b="1">
                <a:solidFill>
                  <a:schemeClr val="tx2">
                    <a:lumMod val="76000"/>
                    <a:lumOff val="24000"/>
                  </a:schemeClr>
                </a:solidFill>
                <a:ea typeface="+mn-lt"/>
                <a:cs typeface="+mn-lt"/>
              </a:rPr>
              <a:t>Key columns:</a:t>
            </a:r>
            <a:r>
              <a:rPr lang="en-US" sz="2000">
                <a:solidFill>
                  <a:schemeClr val="tx2">
                    <a:lumMod val="76000"/>
                    <a:lumOff val="24000"/>
                  </a:schemeClr>
                </a:solidFill>
                <a:ea typeface="+mn-lt"/>
                <a:cs typeface="+mn-lt"/>
              </a:rPr>
              <a:t> </a:t>
            </a:r>
          </a:p>
          <a:p>
            <a:r>
              <a:rPr lang="en-US" sz="2000">
                <a:solidFill>
                  <a:schemeClr val="tx2">
                    <a:lumMod val="76000"/>
                    <a:lumOff val="24000"/>
                  </a:schemeClr>
                </a:solidFill>
                <a:ea typeface="+mn-lt"/>
                <a:cs typeface="+mn-lt"/>
              </a:rPr>
              <a:t>      Manufactured Qty, Processed Qty, Produced Qty, Rejected Qty, Wastage Percentage,Doc date .</a:t>
            </a:r>
            <a:endParaRPr lang="en-US" sz="2000">
              <a:solidFill>
                <a:schemeClr val="tx2">
                  <a:lumMod val="76000"/>
                  <a:lumOff val="24000"/>
                </a:schemeClr>
              </a:solidFill>
            </a:endParaRPr>
          </a:p>
          <a:p>
            <a:pPr marL="342900" indent="-342900">
              <a:buFont typeface="Arial"/>
              <a:buChar char="•"/>
            </a:pPr>
            <a:endParaRPr lang="en-US" sz="2000">
              <a:solidFill>
                <a:schemeClr val="tx2">
                  <a:lumMod val="76000"/>
                  <a:lumOff val="24000"/>
                </a:schemeClr>
              </a:solidFill>
              <a:ea typeface="+mn-lt"/>
              <a:cs typeface="+mn-lt"/>
            </a:endParaRPr>
          </a:p>
          <a:p>
            <a:pPr marL="342900" indent="-342900">
              <a:buFont typeface="Arial"/>
              <a:buChar char="•"/>
            </a:pPr>
            <a:r>
              <a:rPr lang="en-US" sz="2000" b="1">
                <a:solidFill>
                  <a:schemeClr val="tx2">
                    <a:lumMod val="76000"/>
                    <a:lumOff val="24000"/>
                  </a:schemeClr>
                </a:solidFill>
                <a:ea typeface="+mn-lt"/>
                <a:cs typeface="+mn-lt"/>
              </a:rPr>
              <a:t>Aggregation:</a:t>
            </a:r>
            <a:r>
              <a:rPr lang="en-US" sz="2000">
                <a:solidFill>
                  <a:schemeClr val="tx2">
                    <a:lumMod val="76000"/>
                    <a:lumOff val="24000"/>
                  </a:schemeClr>
                </a:solidFill>
                <a:ea typeface="+mn-lt"/>
                <a:cs typeface="+mn-lt"/>
              </a:rPr>
              <a:t>  </a:t>
            </a:r>
            <a:endParaRPr lang="en-US" sz="2000" b="1">
              <a:solidFill>
                <a:schemeClr val="tx2">
                  <a:lumMod val="76000"/>
                  <a:lumOff val="24000"/>
                </a:schemeClr>
              </a:solidFill>
              <a:ea typeface="+mn-lt"/>
              <a:cs typeface="+mn-lt"/>
            </a:endParaRPr>
          </a:p>
          <a:p>
            <a:r>
              <a:rPr lang="en-US" sz="2000">
                <a:solidFill>
                  <a:schemeClr val="tx2">
                    <a:lumMod val="76000"/>
                    <a:lumOff val="24000"/>
                  </a:schemeClr>
                </a:solidFill>
                <a:ea typeface="+mn-lt"/>
                <a:cs typeface="+mn-lt"/>
              </a:rPr>
              <a:t>       Total Manufactured Qty , Total Processed Qty , Total Rejected Qty , Total Wastage Qty </a:t>
            </a:r>
            <a:endParaRPr lang="en-US" sz="2000" b="1">
              <a:solidFill>
                <a:schemeClr val="tx2">
                  <a:lumMod val="76000"/>
                  <a:lumOff val="24000"/>
                </a:schemeClr>
              </a:solidFill>
            </a:endParaRPr>
          </a:p>
        </p:txBody>
      </p:sp>
    </p:spTree>
    <p:extLst>
      <p:ext uri="{BB962C8B-B14F-4D97-AF65-F5344CB8AC3E}">
        <p14:creationId xmlns:p14="http://schemas.microsoft.com/office/powerpoint/2010/main" val="386114348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bg>
      <p:bgPr>
        <a:blipFill>
          <a:blip r:embed="rId2"/>
          <a:stretch>
            <a:fillRect l="-2000" r="-2000"/>
          </a:stretch>
        </a:blipFill>
        <a:effectLst/>
      </p:bgPr>
    </p:bg>
    <p:spTree>
      <p:nvGrpSpPr>
        <p:cNvPr id="1" name="">
          <a:extLst>
            <a:ext uri="{FF2B5EF4-FFF2-40B4-BE49-F238E27FC236}">
              <a16:creationId xmlns:a16="http://schemas.microsoft.com/office/drawing/2014/main" id="{BF5CEDD0-C9CB-319F-4A9F-D01E61BE6EB8}"/>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7DA8CAC3-237D-1A05-0572-7AC21B05311F}"/>
              </a:ext>
            </a:extLst>
          </p:cNvPr>
          <p:cNvSpPr txBox="1"/>
          <p:nvPr/>
        </p:nvSpPr>
        <p:spPr>
          <a:xfrm>
            <a:off x="3043225" y="728593"/>
            <a:ext cx="6096000" cy="46166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n-US" sz="2400" b="1">
                <a:solidFill>
                  <a:schemeClr val="tx2">
                    <a:lumMod val="90000"/>
                    <a:lumOff val="10000"/>
                  </a:schemeClr>
                </a:solidFill>
                <a:latin typeface="Aptos"/>
              </a:rPr>
              <a:t>OBJECTIVES : KPI</a:t>
            </a:r>
            <a:endParaRPr lang="en-US" sz="2400" b="1">
              <a:solidFill>
                <a:schemeClr val="tx2">
                  <a:lumMod val="90000"/>
                  <a:lumOff val="10000"/>
                </a:schemeClr>
              </a:solidFill>
            </a:endParaRPr>
          </a:p>
        </p:txBody>
      </p:sp>
      <p:sp>
        <p:nvSpPr>
          <p:cNvPr id="3" name="TextBox 2">
            <a:extLst>
              <a:ext uri="{FF2B5EF4-FFF2-40B4-BE49-F238E27FC236}">
                <a16:creationId xmlns:a16="http://schemas.microsoft.com/office/drawing/2014/main" id="{2DC873D3-1291-1AA2-3D84-C4E9CA29BB4F}"/>
              </a:ext>
            </a:extLst>
          </p:cNvPr>
          <p:cNvSpPr txBox="1"/>
          <p:nvPr/>
        </p:nvSpPr>
        <p:spPr>
          <a:xfrm>
            <a:off x="751113" y="1473362"/>
            <a:ext cx="10694859" cy="3323987"/>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342900" indent="-342900" algn="just">
              <a:buFont typeface="Wingdings"/>
              <a:buChar char="Ø"/>
            </a:pPr>
            <a:r>
              <a:rPr lang="en-US" sz="2400">
                <a:solidFill>
                  <a:schemeClr val="tx2">
                    <a:lumMod val="76000"/>
                    <a:lumOff val="24000"/>
                  </a:schemeClr>
                </a:solidFill>
                <a:latin typeface="Aptos Display"/>
              </a:rPr>
              <a:t>Manufactured Qty</a:t>
            </a:r>
            <a:endParaRPr lang="en-US">
              <a:solidFill>
                <a:schemeClr val="tx2">
                  <a:lumMod val="76000"/>
                  <a:lumOff val="24000"/>
                </a:schemeClr>
              </a:solidFill>
              <a:latin typeface="Aptos Display"/>
            </a:endParaRPr>
          </a:p>
          <a:p>
            <a:pPr marL="342900" indent="-342900" algn="just">
              <a:buFont typeface="Wingdings"/>
              <a:buChar char="Ø"/>
            </a:pPr>
            <a:r>
              <a:rPr lang="en-US" sz="2400">
                <a:solidFill>
                  <a:schemeClr val="tx2">
                    <a:lumMod val="76000"/>
                    <a:lumOff val="24000"/>
                  </a:schemeClr>
                </a:solidFill>
                <a:latin typeface="Aptos Display"/>
              </a:rPr>
              <a:t>Processed Qty</a:t>
            </a:r>
          </a:p>
          <a:p>
            <a:pPr marL="342900" indent="-342900" algn="just">
              <a:buFont typeface="Wingdings"/>
              <a:buChar char="Ø"/>
            </a:pPr>
            <a:r>
              <a:rPr lang="en-US" sz="2400">
                <a:solidFill>
                  <a:schemeClr val="tx2">
                    <a:lumMod val="76000"/>
                    <a:lumOff val="24000"/>
                  </a:schemeClr>
                </a:solidFill>
                <a:latin typeface="Aptos Display"/>
              </a:rPr>
              <a:t>Rejected Qty </a:t>
            </a:r>
          </a:p>
          <a:p>
            <a:pPr marL="342900" indent="-342900" algn="just">
              <a:buFont typeface="Wingdings"/>
              <a:buChar char="Ø"/>
            </a:pPr>
            <a:r>
              <a:rPr lang="en-US" sz="2400">
                <a:solidFill>
                  <a:schemeClr val="tx2">
                    <a:lumMod val="76000"/>
                    <a:lumOff val="24000"/>
                  </a:schemeClr>
                </a:solidFill>
                <a:latin typeface="Aptos Display"/>
              </a:rPr>
              <a:t>Wastage Qty</a:t>
            </a:r>
          </a:p>
          <a:p>
            <a:pPr marL="342900" indent="-342900" algn="just">
              <a:buFont typeface="Wingdings"/>
              <a:buChar char="Ø"/>
            </a:pPr>
            <a:r>
              <a:rPr lang="en-US" sz="2400">
                <a:solidFill>
                  <a:schemeClr val="tx2">
                    <a:lumMod val="76000"/>
                    <a:lumOff val="24000"/>
                  </a:schemeClr>
                </a:solidFill>
                <a:latin typeface="Aptos Display"/>
              </a:rPr>
              <a:t>Employee Wise Rejected Qty</a:t>
            </a:r>
          </a:p>
          <a:p>
            <a:pPr marL="342900" indent="-342900" algn="just">
              <a:buFont typeface="Wingdings"/>
              <a:buChar char="Ø"/>
            </a:pPr>
            <a:r>
              <a:rPr lang="en-US" sz="2400">
                <a:solidFill>
                  <a:schemeClr val="tx2">
                    <a:lumMod val="76000"/>
                    <a:lumOff val="24000"/>
                  </a:schemeClr>
                </a:solidFill>
                <a:latin typeface="Aptos Display"/>
              </a:rPr>
              <a:t>Department Wise Rejected Qty</a:t>
            </a:r>
          </a:p>
          <a:p>
            <a:pPr marL="342900" indent="-342900" algn="just">
              <a:buFont typeface="Wingdings"/>
              <a:buChar char="Ø"/>
            </a:pPr>
            <a:r>
              <a:rPr lang="en-US" sz="2400">
                <a:solidFill>
                  <a:schemeClr val="tx2">
                    <a:lumMod val="76000"/>
                    <a:lumOff val="24000"/>
                  </a:schemeClr>
                </a:solidFill>
                <a:latin typeface="Aptos Display"/>
              </a:rPr>
              <a:t>Machine Wise Rejected Qty</a:t>
            </a:r>
          </a:p>
          <a:p>
            <a:pPr marL="342900" indent="-342900" algn="just">
              <a:buFont typeface="Wingdings"/>
              <a:buChar char="Ø"/>
            </a:pPr>
            <a:r>
              <a:rPr lang="en-US" sz="2400">
                <a:solidFill>
                  <a:schemeClr val="tx2">
                    <a:lumMod val="76000"/>
                    <a:lumOff val="24000"/>
                  </a:schemeClr>
                </a:solidFill>
                <a:latin typeface="Aptos Display"/>
              </a:rPr>
              <a:t>Production Comparison trend </a:t>
            </a:r>
          </a:p>
          <a:p>
            <a:endParaRPr lang="en-US">
              <a:solidFill>
                <a:schemeClr val="tx2">
                  <a:lumMod val="76000"/>
                  <a:lumOff val="24000"/>
                </a:schemeClr>
              </a:solidFill>
              <a:latin typeface="Aptos" panose="020B0004020202020204"/>
            </a:endParaRPr>
          </a:p>
        </p:txBody>
      </p:sp>
    </p:spTree>
    <p:extLst>
      <p:ext uri="{BB962C8B-B14F-4D97-AF65-F5344CB8AC3E}">
        <p14:creationId xmlns:p14="http://schemas.microsoft.com/office/powerpoint/2010/main" val="251658004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bg>
      <p:bgPr>
        <a:blipFill>
          <a:blip r:embed="rId2"/>
          <a:stretch>
            <a:fillRect l="-2000" r="-2000"/>
          </a:stretch>
        </a:blip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5B284920-EAF5-5A7D-44F9-D67AED216E5A}"/>
              </a:ext>
            </a:extLst>
          </p:cNvPr>
          <p:cNvSpPr txBox="1"/>
          <p:nvPr/>
        </p:nvSpPr>
        <p:spPr>
          <a:xfrm>
            <a:off x="3051348" y="693782"/>
            <a:ext cx="6096000" cy="46166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n-US" sz="2400" b="1">
                <a:solidFill>
                  <a:schemeClr val="tx2">
                    <a:lumMod val="90000"/>
                    <a:lumOff val="10000"/>
                  </a:schemeClr>
                </a:solidFill>
                <a:latin typeface="Aptos"/>
              </a:rPr>
              <a:t>PROCESS</a:t>
            </a:r>
            <a:endParaRPr lang="en-US" sz="2400" b="1">
              <a:solidFill>
                <a:schemeClr val="tx2">
                  <a:lumMod val="90000"/>
                  <a:lumOff val="10000"/>
                </a:schemeClr>
              </a:solidFill>
            </a:endParaRPr>
          </a:p>
        </p:txBody>
      </p:sp>
      <p:sp>
        <p:nvSpPr>
          <p:cNvPr id="4" name="Rectangle 3">
            <a:extLst>
              <a:ext uri="{FF2B5EF4-FFF2-40B4-BE49-F238E27FC236}">
                <a16:creationId xmlns:a16="http://schemas.microsoft.com/office/drawing/2014/main" id="{66924899-C74F-38CD-9232-871FDAB1445D}"/>
              </a:ext>
            </a:extLst>
          </p:cNvPr>
          <p:cNvSpPr/>
          <p:nvPr/>
        </p:nvSpPr>
        <p:spPr>
          <a:xfrm>
            <a:off x="943319" y="4847082"/>
            <a:ext cx="1703766" cy="635122"/>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t>Data Collection</a:t>
            </a:r>
          </a:p>
        </p:txBody>
      </p:sp>
      <p:sp>
        <p:nvSpPr>
          <p:cNvPr id="6" name="Rectangle 5">
            <a:extLst>
              <a:ext uri="{FF2B5EF4-FFF2-40B4-BE49-F238E27FC236}">
                <a16:creationId xmlns:a16="http://schemas.microsoft.com/office/drawing/2014/main" id="{DEEB6C2A-C004-9C89-10A0-D1CD62856011}"/>
              </a:ext>
            </a:extLst>
          </p:cNvPr>
          <p:cNvSpPr/>
          <p:nvPr/>
        </p:nvSpPr>
        <p:spPr>
          <a:xfrm>
            <a:off x="2647036" y="4207289"/>
            <a:ext cx="1703766" cy="635122"/>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US"/>
              <a:t>Data Cleaning</a:t>
            </a:r>
          </a:p>
        </p:txBody>
      </p:sp>
      <p:sp>
        <p:nvSpPr>
          <p:cNvPr id="7" name="Rectangle 6">
            <a:extLst>
              <a:ext uri="{FF2B5EF4-FFF2-40B4-BE49-F238E27FC236}">
                <a16:creationId xmlns:a16="http://schemas.microsoft.com/office/drawing/2014/main" id="{28398D3F-6CD6-352E-6AC4-7F4D3C6ED521}"/>
              </a:ext>
            </a:extLst>
          </p:cNvPr>
          <p:cNvSpPr/>
          <p:nvPr/>
        </p:nvSpPr>
        <p:spPr>
          <a:xfrm>
            <a:off x="4350753" y="3567497"/>
            <a:ext cx="1703766" cy="635122"/>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US"/>
              <a:t>Data Transformation</a:t>
            </a:r>
          </a:p>
        </p:txBody>
      </p:sp>
      <p:sp>
        <p:nvSpPr>
          <p:cNvPr id="8" name="Rectangle 7">
            <a:extLst>
              <a:ext uri="{FF2B5EF4-FFF2-40B4-BE49-F238E27FC236}">
                <a16:creationId xmlns:a16="http://schemas.microsoft.com/office/drawing/2014/main" id="{CFA9E064-633B-C69D-B3E7-EB7E8FD69A79}"/>
              </a:ext>
            </a:extLst>
          </p:cNvPr>
          <p:cNvSpPr/>
          <p:nvPr/>
        </p:nvSpPr>
        <p:spPr>
          <a:xfrm>
            <a:off x="6054470" y="2927704"/>
            <a:ext cx="1703766" cy="635122"/>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US"/>
              <a:t>KPI Creation</a:t>
            </a:r>
          </a:p>
        </p:txBody>
      </p:sp>
      <p:sp>
        <p:nvSpPr>
          <p:cNvPr id="9" name="Rectangle 8">
            <a:extLst>
              <a:ext uri="{FF2B5EF4-FFF2-40B4-BE49-F238E27FC236}">
                <a16:creationId xmlns:a16="http://schemas.microsoft.com/office/drawing/2014/main" id="{65051170-3A0D-0330-DD81-28FBF39FB3C2}"/>
              </a:ext>
            </a:extLst>
          </p:cNvPr>
          <p:cNvSpPr/>
          <p:nvPr/>
        </p:nvSpPr>
        <p:spPr>
          <a:xfrm>
            <a:off x="7758186" y="2287911"/>
            <a:ext cx="1703766" cy="635122"/>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US"/>
              <a:t>Visualization (Power BI)</a:t>
            </a:r>
          </a:p>
        </p:txBody>
      </p:sp>
      <p:sp>
        <p:nvSpPr>
          <p:cNvPr id="10" name="Rectangle 9">
            <a:extLst>
              <a:ext uri="{FF2B5EF4-FFF2-40B4-BE49-F238E27FC236}">
                <a16:creationId xmlns:a16="http://schemas.microsoft.com/office/drawing/2014/main" id="{16A85AC0-5B51-5D5E-A453-D4FCFACEC964}"/>
              </a:ext>
            </a:extLst>
          </p:cNvPr>
          <p:cNvSpPr/>
          <p:nvPr/>
        </p:nvSpPr>
        <p:spPr>
          <a:xfrm>
            <a:off x="9461903" y="1648119"/>
            <a:ext cx="1703766" cy="635122"/>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US"/>
              <a:t>Insight Extraction</a:t>
            </a:r>
          </a:p>
        </p:txBody>
      </p:sp>
    </p:spTree>
    <p:extLst>
      <p:ext uri="{BB962C8B-B14F-4D97-AF65-F5344CB8AC3E}">
        <p14:creationId xmlns:p14="http://schemas.microsoft.com/office/powerpoint/2010/main" val="344151160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bg>
      <p:bgPr>
        <a:blipFill>
          <a:blip r:embed="rId2"/>
          <a:stretch>
            <a:fillRect l="-2000" r="-2000"/>
          </a:stretch>
        </a:blipFill>
        <a:effectLst/>
      </p:bgPr>
    </p:bg>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970F6E74-27D3-A679-AC43-A926085C1622}"/>
              </a:ext>
            </a:extLst>
          </p:cNvPr>
          <p:cNvSpPr txBox="1"/>
          <p:nvPr/>
        </p:nvSpPr>
        <p:spPr>
          <a:xfrm>
            <a:off x="3048001" y="273170"/>
            <a:ext cx="6096000" cy="46166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n-US" sz="2400" b="1" baseline="0">
                <a:solidFill>
                  <a:schemeClr val="tx2">
                    <a:lumMod val="90000"/>
                    <a:lumOff val="10000"/>
                  </a:schemeClr>
                </a:solidFill>
                <a:latin typeface="Aptos"/>
              </a:rPr>
              <a:t>ANALYSIS </a:t>
            </a:r>
            <a:r>
              <a:rPr lang="en-US" sz="2400" b="1">
                <a:solidFill>
                  <a:schemeClr val="tx2">
                    <a:lumMod val="90000"/>
                    <a:lumOff val="10000"/>
                  </a:schemeClr>
                </a:solidFill>
                <a:latin typeface="Aptos"/>
              </a:rPr>
              <a:t>1</a:t>
            </a:r>
            <a:endParaRPr lang="en-US" b="1">
              <a:solidFill>
                <a:schemeClr val="tx2">
                  <a:lumMod val="90000"/>
                  <a:lumOff val="10000"/>
                </a:schemeClr>
              </a:solidFill>
            </a:endParaRPr>
          </a:p>
        </p:txBody>
      </p:sp>
      <p:sp>
        <p:nvSpPr>
          <p:cNvPr id="4" name="TextBox 3">
            <a:extLst>
              <a:ext uri="{FF2B5EF4-FFF2-40B4-BE49-F238E27FC236}">
                <a16:creationId xmlns:a16="http://schemas.microsoft.com/office/drawing/2014/main" id="{4E2C0855-B455-5AB0-B656-BF79E0B72333}"/>
              </a:ext>
            </a:extLst>
          </p:cNvPr>
          <p:cNvSpPr txBox="1"/>
          <p:nvPr/>
        </p:nvSpPr>
        <p:spPr>
          <a:xfrm>
            <a:off x="3649452" y="2565240"/>
            <a:ext cx="7038833" cy="707886"/>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000">
                <a:solidFill>
                  <a:schemeClr val="tx2">
                    <a:lumMod val="76000"/>
                    <a:lumOff val="24000"/>
                  </a:schemeClr>
                </a:solidFill>
                <a:ea typeface="+mn-lt"/>
                <a:cs typeface="+mn-lt"/>
              </a:rPr>
              <a:t>An impressive 72.04M units processed qty showcases exceptional throughput and well-optimized production flow.</a:t>
            </a:r>
            <a:endParaRPr lang="en-US" sz="2000">
              <a:solidFill>
                <a:schemeClr val="tx2">
                  <a:lumMod val="76000"/>
                  <a:lumOff val="24000"/>
                </a:schemeClr>
              </a:solidFill>
            </a:endParaRPr>
          </a:p>
        </p:txBody>
      </p:sp>
      <p:sp>
        <p:nvSpPr>
          <p:cNvPr id="5" name="TextBox 4">
            <a:extLst>
              <a:ext uri="{FF2B5EF4-FFF2-40B4-BE49-F238E27FC236}">
                <a16:creationId xmlns:a16="http://schemas.microsoft.com/office/drawing/2014/main" id="{07A2B5F9-9A96-BA7F-6C6C-6DE0F7AF34FA}"/>
              </a:ext>
            </a:extLst>
          </p:cNvPr>
          <p:cNvSpPr txBox="1"/>
          <p:nvPr/>
        </p:nvSpPr>
        <p:spPr>
          <a:xfrm>
            <a:off x="3652728" y="1197135"/>
            <a:ext cx="7027301" cy="707886"/>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000">
                <a:solidFill>
                  <a:schemeClr val="tx2">
                    <a:lumMod val="76000"/>
                    <a:lumOff val="24000"/>
                  </a:schemeClr>
                </a:solidFill>
                <a:ea typeface="+mn-lt"/>
                <a:cs typeface="+mn-lt"/>
              </a:rPr>
              <a:t>A strong output of 72M units reflects highly efficient and consistently stable manufacturing operations.</a:t>
            </a:r>
            <a:endParaRPr lang="en-US" sz="2000">
              <a:solidFill>
                <a:schemeClr val="tx2">
                  <a:lumMod val="76000"/>
                  <a:lumOff val="24000"/>
                </a:schemeClr>
              </a:solidFill>
            </a:endParaRPr>
          </a:p>
        </p:txBody>
      </p:sp>
      <p:sp>
        <p:nvSpPr>
          <p:cNvPr id="6" name="TextBox 5">
            <a:extLst>
              <a:ext uri="{FF2B5EF4-FFF2-40B4-BE49-F238E27FC236}">
                <a16:creationId xmlns:a16="http://schemas.microsoft.com/office/drawing/2014/main" id="{B683F1CC-BC24-387B-9B03-53613A537ACD}"/>
              </a:ext>
            </a:extLst>
          </p:cNvPr>
          <p:cNvSpPr txBox="1"/>
          <p:nvPr/>
        </p:nvSpPr>
        <p:spPr>
          <a:xfrm>
            <a:off x="3648621" y="3972991"/>
            <a:ext cx="7335385" cy="707886"/>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000">
                <a:solidFill>
                  <a:schemeClr val="tx2">
                    <a:lumMod val="76000"/>
                    <a:lumOff val="24000"/>
                  </a:schemeClr>
                </a:solidFill>
                <a:ea typeface="+mn-lt"/>
                <a:cs typeface="+mn-lt"/>
              </a:rPr>
              <a:t>A minimal rejection volume of 0.44M highlights effective quality control and reliable process performance.</a:t>
            </a:r>
            <a:endParaRPr lang="en-US" sz="2000">
              <a:solidFill>
                <a:schemeClr val="tx2">
                  <a:lumMod val="76000"/>
                  <a:lumOff val="24000"/>
                </a:schemeClr>
              </a:solidFill>
            </a:endParaRPr>
          </a:p>
        </p:txBody>
      </p:sp>
      <p:sp>
        <p:nvSpPr>
          <p:cNvPr id="9" name="TextBox 8">
            <a:extLst>
              <a:ext uri="{FF2B5EF4-FFF2-40B4-BE49-F238E27FC236}">
                <a16:creationId xmlns:a16="http://schemas.microsoft.com/office/drawing/2014/main" id="{9C527A1C-AAD2-E1BE-B32D-62AEF7C0EFF5}"/>
              </a:ext>
            </a:extLst>
          </p:cNvPr>
          <p:cNvSpPr txBox="1"/>
          <p:nvPr/>
        </p:nvSpPr>
        <p:spPr>
          <a:xfrm>
            <a:off x="3645980" y="5344710"/>
            <a:ext cx="7335092" cy="707886"/>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000">
                <a:solidFill>
                  <a:schemeClr val="tx2">
                    <a:lumMod val="76000"/>
                    <a:lumOff val="24000"/>
                  </a:schemeClr>
                </a:solidFill>
                <a:ea typeface="+mn-lt"/>
                <a:cs typeface="+mn-lt"/>
              </a:rPr>
              <a:t>With only 69 units wasted, the process demonstrates outstanding material efficiency and precision.</a:t>
            </a:r>
            <a:endParaRPr lang="en-US" sz="2000">
              <a:solidFill>
                <a:schemeClr val="tx2">
                  <a:lumMod val="76000"/>
                  <a:lumOff val="24000"/>
                </a:schemeClr>
              </a:solidFill>
            </a:endParaRPr>
          </a:p>
        </p:txBody>
      </p:sp>
      <p:pic>
        <p:nvPicPr>
          <p:cNvPr id="2" name="Picture 1" descr="A screenshot of a phone&#10;&#10;AI-generated content may be incorrect.">
            <a:extLst>
              <a:ext uri="{FF2B5EF4-FFF2-40B4-BE49-F238E27FC236}">
                <a16:creationId xmlns:a16="http://schemas.microsoft.com/office/drawing/2014/main" id="{6CA2B1E8-27CC-194B-303C-C0E017446DEA}"/>
              </a:ext>
            </a:extLst>
          </p:cNvPr>
          <p:cNvPicPr>
            <a:picLocks noChangeAspect="1"/>
          </p:cNvPicPr>
          <p:nvPr/>
        </p:nvPicPr>
        <p:blipFill>
          <a:blip r:embed="rId3"/>
          <a:stretch>
            <a:fillRect/>
          </a:stretch>
        </p:blipFill>
        <p:spPr>
          <a:xfrm>
            <a:off x="1110566" y="1043719"/>
            <a:ext cx="1897983" cy="5165938"/>
          </a:xfrm>
          <a:prstGeom prst="rect">
            <a:avLst/>
          </a:prstGeom>
          <a:solidFill>
            <a:srgbClr val="FFFFFF">
              <a:shade val="85000"/>
            </a:srgbClr>
          </a:solidFill>
          <a:ln w="889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sp>
        <p:nvSpPr>
          <p:cNvPr id="7" name="Arrow: Right 6">
            <a:extLst>
              <a:ext uri="{FF2B5EF4-FFF2-40B4-BE49-F238E27FC236}">
                <a16:creationId xmlns:a16="http://schemas.microsoft.com/office/drawing/2014/main" id="{54FD9E4C-B741-65B1-52BA-6C12AC824E72}"/>
              </a:ext>
            </a:extLst>
          </p:cNvPr>
          <p:cNvSpPr/>
          <p:nvPr/>
        </p:nvSpPr>
        <p:spPr>
          <a:xfrm>
            <a:off x="3207177" y="1473404"/>
            <a:ext cx="353504" cy="170657"/>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Arrow: Right 7">
            <a:extLst>
              <a:ext uri="{FF2B5EF4-FFF2-40B4-BE49-F238E27FC236}">
                <a16:creationId xmlns:a16="http://schemas.microsoft.com/office/drawing/2014/main" id="{03F0259E-425E-8B4E-C1D6-7C25B82F90C6}"/>
              </a:ext>
            </a:extLst>
          </p:cNvPr>
          <p:cNvSpPr/>
          <p:nvPr/>
        </p:nvSpPr>
        <p:spPr>
          <a:xfrm>
            <a:off x="3207176" y="2832064"/>
            <a:ext cx="353504" cy="170657"/>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Arrow: Right 10">
            <a:extLst>
              <a:ext uri="{FF2B5EF4-FFF2-40B4-BE49-F238E27FC236}">
                <a16:creationId xmlns:a16="http://schemas.microsoft.com/office/drawing/2014/main" id="{D6BE1C54-7193-FB16-A20E-3626798489D5}"/>
              </a:ext>
            </a:extLst>
          </p:cNvPr>
          <p:cNvSpPr/>
          <p:nvPr/>
        </p:nvSpPr>
        <p:spPr>
          <a:xfrm>
            <a:off x="3207177" y="4241045"/>
            <a:ext cx="353504" cy="170657"/>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Arrow: Right 14">
            <a:extLst>
              <a:ext uri="{FF2B5EF4-FFF2-40B4-BE49-F238E27FC236}">
                <a16:creationId xmlns:a16="http://schemas.microsoft.com/office/drawing/2014/main" id="{164A63F6-B947-6818-1680-CAF4EAB06174}"/>
              </a:ext>
            </a:extLst>
          </p:cNvPr>
          <p:cNvSpPr/>
          <p:nvPr/>
        </p:nvSpPr>
        <p:spPr>
          <a:xfrm>
            <a:off x="3207176" y="5614082"/>
            <a:ext cx="353504" cy="170657"/>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20287846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bg>
      <p:bgPr>
        <a:blipFill>
          <a:blip r:embed="rId2"/>
          <a:stretch>
            <a:fillRect l="-2000" r="-2000"/>
          </a:stretch>
        </a:blip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067454EA-6684-837B-409C-0E81CF6D602B}"/>
              </a:ext>
            </a:extLst>
          </p:cNvPr>
          <p:cNvSpPr txBox="1"/>
          <p:nvPr/>
        </p:nvSpPr>
        <p:spPr>
          <a:xfrm>
            <a:off x="3048000" y="287547"/>
            <a:ext cx="6096000" cy="46166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n-US" sz="2400" b="1">
                <a:solidFill>
                  <a:schemeClr val="tx2">
                    <a:lumMod val="90000"/>
                    <a:lumOff val="10000"/>
                  </a:schemeClr>
                </a:solidFill>
                <a:latin typeface="Aptos"/>
              </a:rPr>
              <a:t>ANALYSIS 2</a:t>
            </a:r>
            <a:endParaRPr lang="en-US" b="1">
              <a:solidFill>
                <a:schemeClr val="tx2">
                  <a:lumMod val="90000"/>
                  <a:lumOff val="10000"/>
                </a:schemeClr>
              </a:solidFill>
            </a:endParaRPr>
          </a:p>
        </p:txBody>
      </p:sp>
      <p:sp>
        <p:nvSpPr>
          <p:cNvPr id="4" name="TextBox 3">
            <a:extLst>
              <a:ext uri="{FF2B5EF4-FFF2-40B4-BE49-F238E27FC236}">
                <a16:creationId xmlns:a16="http://schemas.microsoft.com/office/drawing/2014/main" id="{1757CA97-B3E6-98B3-5417-2FD50A78D801}"/>
              </a:ext>
            </a:extLst>
          </p:cNvPr>
          <p:cNvSpPr txBox="1"/>
          <p:nvPr/>
        </p:nvSpPr>
        <p:spPr>
          <a:xfrm>
            <a:off x="3268452" y="745130"/>
            <a:ext cx="5660524" cy="3693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n-US" b="1">
                <a:solidFill>
                  <a:schemeClr val="tx2">
                    <a:lumMod val="90000"/>
                    <a:lumOff val="10000"/>
                  </a:schemeClr>
                </a:solidFill>
              </a:rPr>
              <a:t>EMPLOYEE WISE REJECTED QUANTITY</a:t>
            </a:r>
          </a:p>
        </p:txBody>
      </p:sp>
      <p:sp>
        <p:nvSpPr>
          <p:cNvPr id="5" name="TextBox 4">
            <a:extLst>
              <a:ext uri="{FF2B5EF4-FFF2-40B4-BE49-F238E27FC236}">
                <a16:creationId xmlns:a16="http://schemas.microsoft.com/office/drawing/2014/main" id="{CAC14ADC-9A4C-01F7-F53A-B40BAAC29F0B}"/>
              </a:ext>
            </a:extLst>
          </p:cNvPr>
          <p:cNvSpPr txBox="1"/>
          <p:nvPr/>
        </p:nvSpPr>
        <p:spPr>
          <a:xfrm>
            <a:off x="1114886" y="4468003"/>
            <a:ext cx="9961432" cy="1631216"/>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n-US" sz="2000">
                <a:solidFill>
                  <a:schemeClr val="tx2">
                    <a:lumMod val="76000"/>
                    <a:lumOff val="24000"/>
                  </a:schemeClr>
                </a:solidFill>
                <a:ea typeface="+mn-lt"/>
                <a:cs typeface="+mn-lt"/>
              </a:rPr>
              <a:t>The employees contributing the highest volume of rejected units. </a:t>
            </a:r>
            <a:r>
              <a:rPr lang="en-US" sz="2000" b="1">
                <a:solidFill>
                  <a:schemeClr val="tx2">
                    <a:lumMod val="76000"/>
                    <a:lumOff val="24000"/>
                  </a:schemeClr>
                </a:solidFill>
                <a:ea typeface="+mn-lt"/>
                <a:cs typeface="+mn-lt"/>
              </a:rPr>
              <a:t>Shruti Singh</a:t>
            </a:r>
            <a:r>
              <a:rPr lang="en-US" sz="2000">
                <a:solidFill>
                  <a:schemeClr val="tx2">
                    <a:lumMod val="76000"/>
                    <a:lumOff val="24000"/>
                  </a:schemeClr>
                </a:solidFill>
                <a:ea typeface="+mn-lt"/>
                <a:cs typeface="+mn-lt"/>
              </a:rPr>
              <a:t> shows a significantly higher rejection count compared to others, indicating a potential skill, process adherence, or workload imbalance issue. </a:t>
            </a:r>
            <a:endParaRPr lang="en-US" sz="2000">
              <a:solidFill>
                <a:schemeClr val="tx2">
                  <a:lumMod val="76000"/>
                  <a:lumOff val="24000"/>
                </a:schemeClr>
              </a:solidFill>
            </a:endParaRPr>
          </a:p>
          <a:p>
            <a:pPr algn="ctr"/>
            <a:r>
              <a:rPr lang="en-US" sz="2000">
                <a:solidFill>
                  <a:schemeClr val="tx2">
                    <a:lumMod val="76000"/>
                    <a:lumOff val="24000"/>
                  </a:schemeClr>
                </a:solidFill>
                <a:ea typeface="+mn-lt"/>
                <a:cs typeface="+mn-lt"/>
              </a:rPr>
              <a:t>Need for targeted training, process review, or quality monitoring to reduce overall rejection rates.</a:t>
            </a:r>
            <a:endParaRPr lang="en-US" sz="2000">
              <a:solidFill>
                <a:schemeClr val="tx2">
                  <a:lumMod val="76000"/>
                  <a:lumOff val="24000"/>
                </a:schemeClr>
              </a:solidFill>
            </a:endParaRPr>
          </a:p>
        </p:txBody>
      </p:sp>
      <p:pic>
        <p:nvPicPr>
          <p:cNvPr id="6" name="Picture 5" descr="A screenshot of a computer&#10;&#10;AI-generated content may be incorrect.">
            <a:extLst>
              <a:ext uri="{FF2B5EF4-FFF2-40B4-BE49-F238E27FC236}">
                <a16:creationId xmlns:a16="http://schemas.microsoft.com/office/drawing/2014/main" id="{38C38311-E782-622F-A3F2-D6902DAEB5CC}"/>
              </a:ext>
            </a:extLst>
          </p:cNvPr>
          <p:cNvPicPr>
            <a:picLocks noChangeAspect="1"/>
          </p:cNvPicPr>
          <p:nvPr/>
        </p:nvPicPr>
        <p:blipFill>
          <a:blip r:embed="rId3"/>
          <a:stretch>
            <a:fillRect/>
          </a:stretch>
        </p:blipFill>
        <p:spPr>
          <a:xfrm>
            <a:off x="3984955" y="1270238"/>
            <a:ext cx="4013621" cy="3052315"/>
          </a:xfrm>
          <a:prstGeom prst="rect">
            <a:avLst/>
          </a:prstGeom>
          <a:solidFill>
            <a:srgbClr val="FFFFFF">
              <a:shade val="85000"/>
            </a:srgbClr>
          </a:solidFill>
          <a:ln w="889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spTree>
    <p:extLst>
      <p:ext uri="{BB962C8B-B14F-4D97-AF65-F5344CB8AC3E}">
        <p14:creationId xmlns:p14="http://schemas.microsoft.com/office/powerpoint/2010/main" val="4195113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bg>
      <p:bgPr>
        <a:blipFill>
          <a:blip r:embed="rId2"/>
          <a:stretch>
            <a:fillRect l="-2000" r="-2000"/>
          </a:stretch>
        </a:blip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B7787C45-A00B-59E1-9298-A0C10F3AB624}"/>
              </a:ext>
            </a:extLst>
          </p:cNvPr>
          <p:cNvSpPr txBox="1"/>
          <p:nvPr/>
        </p:nvSpPr>
        <p:spPr>
          <a:xfrm>
            <a:off x="3049938" y="285760"/>
            <a:ext cx="6096000" cy="46166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n-US" sz="2400" b="1" baseline="0">
                <a:solidFill>
                  <a:schemeClr val="tx2">
                    <a:lumMod val="90000"/>
                    <a:lumOff val="10000"/>
                  </a:schemeClr>
                </a:solidFill>
                <a:latin typeface="Aptos"/>
              </a:rPr>
              <a:t>ANALYSIS </a:t>
            </a:r>
            <a:r>
              <a:rPr lang="en-US" sz="2400" b="1">
                <a:solidFill>
                  <a:schemeClr val="tx2">
                    <a:lumMod val="90000"/>
                    <a:lumOff val="10000"/>
                  </a:schemeClr>
                </a:solidFill>
                <a:latin typeface="Aptos"/>
              </a:rPr>
              <a:t>3</a:t>
            </a:r>
            <a:endParaRPr lang="en-US" b="1">
              <a:solidFill>
                <a:schemeClr val="tx2">
                  <a:lumMod val="90000"/>
                  <a:lumOff val="10000"/>
                </a:schemeClr>
              </a:solidFill>
            </a:endParaRPr>
          </a:p>
        </p:txBody>
      </p:sp>
      <p:sp>
        <p:nvSpPr>
          <p:cNvPr id="4" name="TextBox 3">
            <a:extLst>
              <a:ext uri="{FF2B5EF4-FFF2-40B4-BE49-F238E27FC236}">
                <a16:creationId xmlns:a16="http://schemas.microsoft.com/office/drawing/2014/main" id="{F0EE39FE-D72F-CF90-7D6C-421C64044507}"/>
              </a:ext>
            </a:extLst>
          </p:cNvPr>
          <p:cNvSpPr txBox="1"/>
          <p:nvPr/>
        </p:nvSpPr>
        <p:spPr>
          <a:xfrm>
            <a:off x="3787168" y="746422"/>
            <a:ext cx="4621521" cy="3693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n-US" b="1">
                <a:solidFill>
                  <a:schemeClr val="tx2">
                    <a:lumMod val="90000"/>
                    <a:lumOff val="10000"/>
                  </a:schemeClr>
                </a:solidFill>
              </a:rPr>
              <a:t>DEPARTMENT WISE REJECTED QUANTITY</a:t>
            </a:r>
          </a:p>
        </p:txBody>
      </p:sp>
      <p:sp>
        <p:nvSpPr>
          <p:cNvPr id="6" name="TextBox 5">
            <a:extLst>
              <a:ext uri="{FF2B5EF4-FFF2-40B4-BE49-F238E27FC236}">
                <a16:creationId xmlns:a16="http://schemas.microsoft.com/office/drawing/2014/main" id="{9C52A035-62CC-F5ED-6EB5-0EBAD4916335}"/>
              </a:ext>
            </a:extLst>
          </p:cNvPr>
          <p:cNvSpPr txBox="1"/>
          <p:nvPr/>
        </p:nvSpPr>
        <p:spPr>
          <a:xfrm>
            <a:off x="565497" y="4742689"/>
            <a:ext cx="11075517" cy="1323439"/>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n-US" sz="2000" b="1">
                <a:solidFill>
                  <a:schemeClr val="tx2">
                    <a:lumMod val="76000"/>
                    <a:lumOff val="24000"/>
                  </a:schemeClr>
                </a:solidFill>
                <a:ea typeface="+mn-lt"/>
                <a:cs typeface="+mn-lt"/>
              </a:rPr>
              <a:t>Woven Labels</a:t>
            </a:r>
            <a:r>
              <a:rPr lang="en-US" sz="2000">
                <a:solidFill>
                  <a:schemeClr val="tx2">
                    <a:lumMod val="76000"/>
                    <a:lumOff val="24000"/>
                  </a:schemeClr>
                </a:solidFill>
                <a:ea typeface="+mn-lt"/>
                <a:cs typeface="+mn-lt"/>
              </a:rPr>
              <a:t> department leads in production output but also contributes the majority of total rejections, indicating higher complexity or quality challenges in this segment.</a:t>
            </a:r>
            <a:endParaRPr lang="en-US" sz="2000">
              <a:solidFill>
                <a:schemeClr val="tx2">
                  <a:lumMod val="76000"/>
                  <a:lumOff val="24000"/>
                </a:schemeClr>
              </a:solidFill>
            </a:endParaRPr>
          </a:p>
          <a:p>
            <a:pPr algn="ctr"/>
            <a:r>
              <a:rPr lang="en-US" sz="2000">
                <a:solidFill>
                  <a:schemeClr val="tx2">
                    <a:lumMod val="76000"/>
                    <a:lumOff val="24000"/>
                  </a:schemeClr>
                </a:solidFill>
                <a:ea typeface="+mn-lt"/>
                <a:cs typeface="+mn-lt"/>
              </a:rPr>
              <a:t> </a:t>
            </a:r>
            <a:r>
              <a:rPr lang="en-US" sz="2000" b="1">
                <a:solidFill>
                  <a:schemeClr val="tx2">
                    <a:lumMod val="76000"/>
                    <a:lumOff val="24000"/>
                  </a:schemeClr>
                </a:solidFill>
                <a:ea typeface="+mn-lt"/>
                <a:cs typeface="+mn-lt"/>
              </a:rPr>
              <a:t>Printed Labels</a:t>
            </a:r>
            <a:r>
              <a:rPr lang="en-US" sz="2000">
                <a:solidFill>
                  <a:schemeClr val="tx2">
                    <a:lumMod val="76000"/>
                    <a:lumOff val="24000"/>
                  </a:schemeClr>
                </a:solidFill>
                <a:ea typeface="+mn-lt"/>
                <a:cs typeface="+mn-lt"/>
              </a:rPr>
              <a:t>, on the other hand, shows minimal defects, reflecting more stable or efficient processes. These insights can guide department-level process improvement strategies.</a:t>
            </a:r>
            <a:endParaRPr lang="en-US" sz="2000">
              <a:solidFill>
                <a:schemeClr val="tx2">
                  <a:lumMod val="76000"/>
                  <a:lumOff val="24000"/>
                </a:schemeClr>
              </a:solidFill>
            </a:endParaRPr>
          </a:p>
        </p:txBody>
      </p:sp>
      <p:pic>
        <p:nvPicPr>
          <p:cNvPr id="3" name="Picture 2">
            <a:extLst>
              <a:ext uri="{FF2B5EF4-FFF2-40B4-BE49-F238E27FC236}">
                <a16:creationId xmlns:a16="http://schemas.microsoft.com/office/drawing/2014/main" id="{EF378374-56FF-065E-0303-50098ED560B2}"/>
              </a:ext>
            </a:extLst>
          </p:cNvPr>
          <p:cNvPicPr>
            <a:picLocks noChangeAspect="1"/>
          </p:cNvPicPr>
          <p:nvPr/>
        </p:nvPicPr>
        <p:blipFill>
          <a:blip r:embed="rId3"/>
          <a:stretch>
            <a:fillRect/>
          </a:stretch>
        </p:blipFill>
        <p:spPr>
          <a:xfrm>
            <a:off x="4067714" y="1199602"/>
            <a:ext cx="4056572" cy="3373306"/>
          </a:xfrm>
          <a:prstGeom prst="rect">
            <a:avLst/>
          </a:prstGeom>
          <a:solidFill>
            <a:srgbClr val="FFFFFF">
              <a:shade val="85000"/>
            </a:srgbClr>
          </a:solidFill>
          <a:ln w="889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spTree>
    <p:extLst>
      <p:ext uri="{BB962C8B-B14F-4D97-AF65-F5344CB8AC3E}">
        <p14:creationId xmlns:p14="http://schemas.microsoft.com/office/powerpoint/2010/main" val="43651583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bg>
      <p:bgPr>
        <a:blipFill>
          <a:blip r:embed="rId2"/>
          <a:stretch>
            <a:fillRect l="-2000" r="-2000"/>
          </a:stretch>
        </a:blip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604E735E-9F9F-D317-A29A-8542BFA5ECA8}"/>
              </a:ext>
            </a:extLst>
          </p:cNvPr>
          <p:cNvSpPr txBox="1"/>
          <p:nvPr/>
        </p:nvSpPr>
        <p:spPr>
          <a:xfrm>
            <a:off x="3327503" y="289077"/>
            <a:ext cx="5534350" cy="433133"/>
          </a:xfrm>
          <a:prstGeom prst="rect">
            <a:avLst/>
          </a:prstGeom>
        </p:spPr>
        <p:txBody>
          <a:bodyPr rot="0" spcFirstLastPara="0" vertOverflow="overflow" horzOverflow="overflow" vert="horz" lIns="91440" tIns="45720" rIns="91440" bIns="45720" numCol="1" spcCol="0" rtlCol="0" fromWordArt="0" anchor="ctr" anchorCtr="0" forceAA="0" compatLnSpc="1">
            <a:prstTxWarp prst="textNoShape">
              <a:avLst/>
            </a:prstTxWarp>
            <a:normAutofit/>
          </a:bodyPr>
          <a:lstStyle/>
          <a:p>
            <a:pPr algn="ctr">
              <a:lnSpc>
                <a:spcPct val="90000"/>
              </a:lnSpc>
              <a:spcBef>
                <a:spcPct val="0"/>
              </a:spcBef>
              <a:spcAft>
                <a:spcPts val="600"/>
              </a:spcAft>
            </a:pPr>
            <a:r>
              <a:rPr lang="en-US" sz="2400" b="1" kern="1200" baseline="0">
                <a:solidFill>
                  <a:schemeClr val="tx2">
                    <a:lumMod val="90000"/>
                    <a:lumOff val="10000"/>
                  </a:schemeClr>
                </a:solidFill>
                <a:latin typeface="+mj-lt"/>
                <a:ea typeface="+mj-ea"/>
                <a:cs typeface="+mj-cs"/>
              </a:rPr>
              <a:t>ANALYSIS </a:t>
            </a:r>
            <a:r>
              <a:rPr lang="en-US" sz="2400" b="1" kern="1200">
                <a:solidFill>
                  <a:schemeClr val="tx2">
                    <a:lumMod val="90000"/>
                    <a:lumOff val="10000"/>
                  </a:schemeClr>
                </a:solidFill>
                <a:latin typeface="+mj-lt"/>
                <a:ea typeface="+mj-ea"/>
                <a:cs typeface="+mj-cs"/>
              </a:rPr>
              <a:t>4</a:t>
            </a:r>
          </a:p>
        </p:txBody>
      </p:sp>
      <p:pic>
        <p:nvPicPr>
          <p:cNvPr id="5" name="Picture 4" descr="A graph of blue bars with numbers&#10;&#10;AI-generated content may be incorrect.">
            <a:extLst>
              <a:ext uri="{FF2B5EF4-FFF2-40B4-BE49-F238E27FC236}">
                <a16:creationId xmlns:a16="http://schemas.microsoft.com/office/drawing/2014/main" id="{18419654-6C2B-48C3-B861-3778F892828D}"/>
              </a:ext>
            </a:extLst>
          </p:cNvPr>
          <p:cNvPicPr>
            <a:picLocks noChangeAspect="1"/>
          </p:cNvPicPr>
          <p:nvPr/>
        </p:nvPicPr>
        <p:blipFill>
          <a:blip r:embed="rId3"/>
          <a:stretch>
            <a:fillRect/>
          </a:stretch>
        </p:blipFill>
        <p:spPr>
          <a:xfrm>
            <a:off x="3808684" y="1172316"/>
            <a:ext cx="4571869" cy="3451656"/>
          </a:xfrm>
          <a:prstGeom prst="rect">
            <a:avLst/>
          </a:prstGeom>
          <a:solidFill>
            <a:srgbClr val="FFFFFF">
              <a:shade val="85000"/>
            </a:srgbClr>
          </a:solidFill>
          <a:ln w="889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sp>
        <p:nvSpPr>
          <p:cNvPr id="3" name="TextBox 2">
            <a:extLst>
              <a:ext uri="{FF2B5EF4-FFF2-40B4-BE49-F238E27FC236}">
                <a16:creationId xmlns:a16="http://schemas.microsoft.com/office/drawing/2014/main" id="{6C06446E-5311-3280-363F-74D1A6CCA3F0}"/>
              </a:ext>
            </a:extLst>
          </p:cNvPr>
          <p:cNvSpPr txBox="1"/>
          <p:nvPr/>
        </p:nvSpPr>
        <p:spPr>
          <a:xfrm>
            <a:off x="943064" y="4838672"/>
            <a:ext cx="10310224" cy="1485886"/>
          </a:xfrm>
          <a:prstGeom prst="rect">
            <a:avLst/>
          </a:prstGeom>
        </p:spPr>
        <p:txBody>
          <a:bodyPr rot="0" spcFirstLastPara="0" vertOverflow="overflow" horzOverflow="overflow" vert="horz" lIns="91440" tIns="45720" rIns="91440" bIns="45720" numCol="1" spcCol="0" rtlCol="0" fromWordArt="0" anchor="t" anchorCtr="0" forceAA="0" compatLnSpc="1">
            <a:prstTxWarp prst="textNoShape">
              <a:avLst/>
            </a:prstTxWarp>
            <a:noAutofit/>
          </a:bodyPr>
          <a:lstStyle/>
          <a:p>
            <a:pPr algn="ctr">
              <a:lnSpc>
                <a:spcPct val="90000"/>
              </a:lnSpc>
              <a:spcAft>
                <a:spcPts val="600"/>
              </a:spcAft>
            </a:pPr>
            <a:r>
              <a:rPr lang="en-US" sz="2000">
                <a:solidFill>
                  <a:schemeClr val="tx2">
                    <a:lumMod val="76000"/>
                    <a:lumOff val="24000"/>
                  </a:schemeClr>
                </a:solidFill>
              </a:rPr>
              <a:t>Top 10 machines show rejects ranging from 27K to 17K. C007 and C039 lead with the highest rejections, followed by C022, C023, and C037 (21–22K). Remaining machines fall between 17–19K. Overall, the top 10 machines show significant variation and highlight key focus areas for reducing total rejects.</a:t>
            </a:r>
          </a:p>
        </p:txBody>
      </p:sp>
      <p:sp>
        <p:nvSpPr>
          <p:cNvPr id="6" name="TextBox 5">
            <a:extLst>
              <a:ext uri="{FF2B5EF4-FFF2-40B4-BE49-F238E27FC236}">
                <a16:creationId xmlns:a16="http://schemas.microsoft.com/office/drawing/2014/main" id="{DDE4607A-FC92-C4D2-9405-B8829D9A8CDD}"/>
              </a:ext>
            </a:extLst>
          </p:cNvPr>
          <p:cNvSpPr txBox="1"/>
          <p:nvPr/>
        </p:nvSpPr>
        <p:spPr>
          <a:xfrm>
            <a:off x="4077728" y="725424"/>
            <a:ext cx="4036543" cy="3693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n-US" sz="1800" b="1" baseline="0">
                <a:solidFill>
                  <a:srgbClr val="163E64"/>
                </a:solidFill>
                <a:latin typeface="Aptos"/>
              </a:rPr>
              <a:t>MACHINE WISE REJECTED QUANTITY</a:t>
            </a:r>
            <a:endParaRPr lang="en-US"/>
          </a:p>
        </p:txBody>
      </p:sp>
    </p:spTree>
    <p:extLst>
      <p:ext uri="{BB962C8B-B14F-4D97-AF65-F5344CB8AC3E}">
        <p14:creationId xmlns:p14="http://schemas.microsoft.com/office/powerpoint/2010/main" val="401991648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bg>
      <p:bgPr>
        <a:blipFill>
          <a:blip r:embed="rId2"/>
          <a:stretch>
            <a:fillRect l="-2000" r="-2000"/>
          </a:stretch>
        </a:blip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3848A91F-B548-123D-3709-963163EBC19A}"/>
              </a:ext>
            </a:extLst>
          </p:cNvPr>
          <p:cNvSpPr txBox="1"/>
          <p:nvPr/>
        </p:nvSpPr>
        <p:spPr>
          <a:xfrm>
            <a:off x="3048000" y="280359"/>
            <a:ext cx="6096000" cy="738664"/>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n-US" sz="2400" b="1" baseline="0">
                <a:solidFill>
                  <a:schemeClr val="tx2">
                    <a:lumMod val="90000"/>
                    <a:lumOff val="10000"/>
                  </a:schemeClr>
                </a:solidFill>
                <a:latin typeface="Aptos"/>
              </a:rPr>
              <a:t>ANALYSIS </a:t>
            </a:r>
            <a:r>
              <a:rPr lang="en-US" sz="2400" b="1">
                <a:solidFill>
                  <a:schemeClr val="tx2">
                    <a:lumMod val="90000"/>
                    <a:lumOff val="10000"/>
                  </a:schemeClr>
                </a:solidFill>
                <a:latin typeface="Aptos"/>
              </a:rPr>
              <a:t>5</a:t>
            </a:r>
            <a:endParaRPr lang="en-US" b="1">
              <a:solidFill>
                <a:schemeClr val="tx2">
                  <a:lumMod val="90000"/>
                  <a:lumOff val="10000"/>
                </a:schemeClr>
              </a:solidFill>
            </a:endParaRPr>
          </a:p>
          <a:p>
            <a:pPr algn="ctr"/>
            <a:endParaRPr lang="en-US"/>
          </a:p>
        </p:txBody>
      </p:sp>
      <p:sp>
        <p:nvSpPr>
          <p:cNvPr id="4" name="TextBox 3">
            <a:extLst>
              <a:ext uri="{FF2B5EF4-FFF2-40B4-BE49-F238E27FC236}">
                <a16:creationId xmlns:a16="http://schemas.microsoft.com/office/drawing/2014/main" id="{ECAB4694-CABD-593F-F55E-BC90A7FED5AA}"/>
              </a:ext>
            </a:extLst>
          </p:cNvPr>
          <p:cNvSpPr txBox="1"/>
          <p:nvPr/>
        </p:nvSpPr>
        <p:spPr>
          <a:xfrm>
            <a:off x="3191293" y="742351"/>
            <a:ext cx="5814203" cy="3693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n-US" b="1">
                <a:solidFill>
                  <a:schemeClr val="tx2">
                    <a:lumMod val="90000"/>
                    <a:lumOff val="10000"/>
                  </a:schemeClr>
                </a:solidFill>
              </a:rPr>
              <a:t>PRODUCTION COMPARISON TREND</a:t>
            </a:r>
          </a:p>
        </p:txBody>
      </p:sp>
      <p:pic>
        <p:nvPicPr>
          <p:cNvPr id="5" name="Picture 4" descr="A graph of blue lines and white text&#10;&#10;AI-generated content may be incorrect.">
            <a:extLst>
              <a:ext uri="{FF2B5EF4-FFF2-40B4-BE49-F238E27FC236}">
                <a16:creationId xmlns:a16="http://schemas.microsoft.com/office/drawing/2014/main" id="{221349D0-ACA6-6542-4B2F-38FFF3A3D7F1}"/>
              </a:ext>
            </a:extLst>
          </p:cNvPr>
          <p:cNvPicPr>
            <a:picLocks noChangeAspect="1"/>
          </p:cNvPicPr>
          <p:nvPr/>
        </p:nvPicPr>
        <p:blipFill>
          <a:blip r:embed="rId3"/>
          <a:stretch>
            <a:fillRect/>
          </a:stretch>
        </p:blipFill>
        <p:spPr>
          <a:xfrm>
            <a:off x="1781517" y="1253461"/>
            <a:ext cx="8622207" cy="3145405"/>
          </a:xfrm>
          <a:prstGeom prst="rect">
            <a:avLst/>
          </a:prstGeom>
          <a:solidFill>
            <a:srgbClr val="FFFFFF">
              <a:shade val="85000"/>
            </a:srgbClr>
          </a:solidFill>
          <a:ln w="889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sp>
        <p:nvSpPr>
          <p:cNvPr id="6" name="TextBox 5">
            <a:extLst>
              <a:ext uri="{FF2B5EF4-FFF2-40B4-BE49-F238E27FC236}">
                <a16:creationId xmlns:a16="http://schemas.microsoft.com/office/drawing/2014/main" id="{A38E785E-51A3-CEF8-E3DF-C61B79C72EA8}"/>
              </a:ext>
            </a:extLst>
          </p:cNvPr>
          <p:cNvSpPr txBox="1"/>
          <p:nvPr/>
        </p:nvSpPr>
        <p:spPr>
          <a:xfrm>
            <a:off x="608678" y="4617385"/>
            <a:ext cx="10975073" cy="1631216"/>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n-US" sz="2000">
                <a:solidFill>
                  <a:schemeClr val="tx2">
                    <a:lumMod val="76000"/>
                    <a:lumOff val="24000"/>
                  </a:schemeClr>
                </a:solidFill>
                <a:latin typeface="Calibri"/>
                <a:ea typeface="Calibri"/>
                <a:cs typeface="Calibri"/>
              </a:rPr>
              <a:t>Production shows sharp fluctuations across November. Peak outputs occurred on 1st (10.5M), 14th (11.9M), and 21st (10.7M), while significant drops happened around 7th–8th and 28th Nov. Manufactured Qty and Produced Qty follow the same pattern, indicating consistent process flow but unstable daily performance. Overall trend shows strong peaks followed by sudden dips — suggesting machine downtime, material issues, or shift variations.</a:t>
            </a:r>
            <a:endParaRPr lang="en-US">
              <a:solidFill>
                <a:schemeClr val="tx2">
                  <a:lumMod val="76000"/>
                  <a:lumOff val="24000"/>
                </a:schemeClr>
              </a:solidFill>
            </a:endParaRPr>
          </a:p>
        </p:txBody>
      </p:sp>
    </p:spTree>
    <p:extLst>
      <p:ext uri="{BB962C8B-B14F-4D97-AF65-F5344CB8AC3E}">
        <p14:creationId xmlns:p14="http://schemas.microsoft.com/office/powerpoint/2010/main" val="74998041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bg>
      <p:bgPr>
        <a:blipFill>
          <a:blip r:embed="rId2"/>
          <a:stretch>
            <a:fillRect l="-2000" r="-2000"/>
          </a:stretch>
        </a:blipFill>
        <a:effectLst/>
      </p:bgPr>
    </p:bg>
    <p:spTree>
      <p:nvGrpSpPr>
        <p:cNvPr id="1" name="">
          <a:extLst>
            <a:ext uri="{FF2B5EF4-FFF2-40B4-BE49-F238E27FC236}">
              <a16:creationId xmlns:a16="http://schemas.microsoft.com/office/drawing/2014/main" id="{1557140D-5E13-016D-0F68-BEE613762DBD}"/>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78E6034F-2B7E-CD7D-55F3-D589EEB750A6}"/>
              </a:ext>
            </a:extLst>
          </p:cNvPr>
          <p:cNvSpPr txBox="1"/>
          <p:nvPr/>
        </p:nvSpPr>
        <p:spPr>
          <a:xfrm>
            <a:off x="3048000" y="522199"/>
            <a:ext cx="6096000" cy="46166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n-US" sz="2400" b="1">
                <a:solidFill>
                  <a:schemeClr val="tx2">
                    <a:lumMod val="90000"/>
                    <a:lumOff val="10000"/>
                  </a:schemeClr>
                </a:solidFill>
              </a:rPr>
              <a:t>Recommendations</a:t>
            </a:r>
          </a:p>
        </p:txBody>
      </p:sp>
      <p:sp>
        <p:nvSpPr>
          <p:cNvPr id="3" name="TextBox 2">
            <a:extLst>
              <a:ext uri="{FF2B5EF4-FFF2-40B4-BE49-F238E27FC236}">
                <a16:creationId xmlns:a16="http://schemas.microsoft.com/office/drawing/2014/main" id="{97AA6F1F-E822-E652-B01B-3751D9E68FC0}"/>
              </a:ext>
            </a:extLst>
          </p:cNvPr>
          <p:cNvSpPr txBox="1"/>
          <p:nvPr/>
        </p:nvSpPr>
        <p:spPr>
          <a:xfrm>
            <a:off x="714387" y="1380311"/>
            <a:ext cx="10770358" cy="4093428"/>
          </a:xfrm>
          <a:prstGeom prst="rect">
            <a:avLst/>
          </a:prstGeom>
          <a:noFill/>
        </p:spPr>
        <p:txBody>
          <a:bodyPr rot="0" spcFirstLastPara="0" vertOverflow="overflow" horzOverflow="overflow" vert="horz" wrap="square" lIns="91440" tIns="45720" rIns="91440" bIns="45720" numCol="1" spcCol="0" rtlCol="0" fromWordArt="0" anchor="ctr" anchorCtr="0" forceAA="0" compatLnSpc="1">
            <a:prstTxWarp prst="textNoShape">
              <a:avLst/>
            </a:prstTxWarp>
            <a:spAutoFit/>
          </a:bodyPr>
          <a:lstStyle/>
          <a:p>
            <a:pPr algn="just"/>
            <a:endParaRPr lang="en-US" sz="2000">
              <a:solidFill>
                <a:schemeClr val="tx2">
                  <a:lumMod val="76000"/>
                  <a:lumOff val="24000"/>
                </a:schemeClr>
              </a:solidFill>
            </a:endParaRPr>
          </a:p>
          <a:p>
            <a:pPr marL="342900" indent="-342900" algn="just">
              <a:buFont typeface="Arial"/>
              <a:buChar char="•"/>
            </a:pPr>
            <a:r>
              <a:rPr lang="en-US" sz="2000" b="1">
                <a:solidFill>
                  <a:schemeClr val="tx2">
                    <a:lumMod val="76000"/>
                    <a:lumOff val="24000"/>
                  </a:schemeClr>
                </a:solidFill>
                <a:ea typeface="+mn-lt"/>
                <a:cs typeface="+mn-lt"/>
              </a:rPr>
              <a:t>Maintenance and calibration check</a:t>
            </a:r>
            <a:r>
              <a:rPr lang="en-US" sz="2000">
                <a:solidFill>
                  <a:schemeClr val="tx2">
                    <a:lumMod val="76000"/>
                    <a:lumOff val="24000"/>
                  </a:schemeClr>
                </a:solidFill>
                <a:ea typeface="+mn-lt"/>
                <a:cs typeface="+mn-lt"/>
              </a:rPr>
              <a:t>: For high-reject machines, schedule maintenance or inspect them. </a:t>
            </a:r>
            <a:endParaRPr lang="en-US" sz="2000">
              <a:solidFill>
                <a:schemeClr val="tx2">
                  <a:lumMod val="76000"/>
                  <a:lumOff val="24000"/>
                </a:schemeClr>
              </a:solidFill>
            </a:endParaRPr>
          </a:p>
          <a:p>
            <a:pPr algn="just"/>
            <a:endParaRPr lang="en-US" sz="2000">
              <a:solidFill>
                <a:schemeClr val="tx2">
                  <a:lumMod val="76000"/>
                  <a:lumOff val="24000"/>
                </a:schemeClr>
              </a:solidFill>
              <a:ea typeface="+mn-lt"/>
              <a:cs typeface="+mn-lt"/>
            </a:endParaRPr>
          </a:p>
          <a:p>
            <a:pPr marL="342900" indent="-342900" algn="just">
              <a:buFont typeface="Arial"/>
              <a:buChar char="•"/>
            </a:pPr>
            <a:r>
              <a:rPr lang="en-US" sz="2000" b="1">
                <a:solidFill>
                  <a:schemeClr val="tx2">
                    <a:lumMod val="76000"/>
                    <a:lumOff val="24000"/>
                  </a:schemeClr>
                </a:solidFill>
                <a:ea typeface="+mn-lt"/>
                <a:cs typeface="+mn-lt"/>
              </a:rPr>
              <a:t>Train staff</a:t>
            </a:r>
            <a:r>
              <a:rPr lang="en-US" sz="2000">
                <a:solidFill>
                  <a:schemeClr val="tx2">
                    <a:lumMod val="76000"/>
                    <a:lumOff val="24000"/>
                  </a:schemeClr>
                </a:solidFill>
                <a:ea typeface="+mn-lt"/>
                <a:cs typeface="+mn-lt"/>
              </a:rPr>
              <a:t>: Based on operator performance data, identify knowledge gaps, re-train</a:t>
            </a:r>
            <a:endParaRPr lang="en-US" sz="2000">
              <a:solidFill>
                <a:schemeClr val="tx2">
                  <a:lumMod val="76000"/>
                  <a:lumOff val="24000"/>
                </a:schemeClr>
              </a:solidFill>
            </a:endParaRPr>
          </a:p>
          <a:p>
            <a:pPr marL="342900" indent="-342900" algn="just">
              <a:buFont typeface="Arial"/>
              <a:buChar char="•"/>
            </a:pPr>
            <a:endParaRPr lang="en-US" sz="2000">
              <a:solidFill>
                <a:schemeClr val="tx2">
                  <a:lumMod val="76000"/>
                  <a:lumOff val="24000"/>
                </a:schemeClr>
              </a:solidFill>
              <a:ea typeface="+mn-lt"/>
              <a:cs typeface="+mn-lt"/>
            </a:endParaRPr>
          </a:p>
          <a:p>
            <a:pPr marL="342900" indent="-342900" algn="just">
              <a:buFont typeface="Arial"/>
              <a:buChar char="•"/>
            </a:pPr>
            <a:r>
              <a:rPr lang="en-US" sz="2000" b="1">
                <a:solidFill>
                  <a:schemeClr val="tx2">
                    <a:lumMod val="76000"/>
                    <a:lumOff val="24000"/>
                  </a:schemeClr>
                </a:solidFill>
                <a:ea typeface="+mn-lt"/>
                <a:cs typeface="+mn-lt"/>
              </a:rPr>
              <a:t>Set targets &amp; continuous improvement plan</a:t>
            </a:r>
            <a:r>
              <a:rPr lang="en-US" sz="2000">
                <a:solidFill>
                  <a:schemeClr val="tx2">
                    <a:lumMod val="76000"/>
                    <a:lumOff val="24000"/>
                  </a:schemeClr>
                </a:solidFill>
                <a:ea typeface="+mn-lt"/>
                <a:cs typeface="+mn-lt"/>
              </a:rPr>
              <a:t>: Aim to reduce reject rate from over next quarter, monitor weekly. Use dashboard to track progress publicly within teams.</a:t>
            </a:r>
            <a:endParaRPr lang="en-US" sz="2000" b="1">
              <a:solidFill>
                <a:schemeClr val="tx2">
                  <a:lumMod val="76000"/>
                  <a:lumOff val="24000"/>
                </a:schemeClr>
              </a:solidFill>
              <a:ea typeface="+mn-lt"/>
              <a:cs typeface="+mn-lt"/>
            </a:endParaRPr>
          </a:p>
          <a:p>
            <a:pPr marL="342900" indent="-342900" algn="just">
              <a:buFont typeface="Arial"/>
              <a:buChar char="•"/>
            </a:pPr>
            <a:endParaRPr lang="en-US" sz="2000">
              <a:solidFill>
                <a:schemeClr val="tx2">
                  <a:lumMod val="76000"/>
                  <a:lumOff val="24000"/>
                </a:schemeClr>
              </a:solidFill>
              <a:ea typeface="+mn-lt"/>
              <a:cs typeface="+mn-lt"/>
            </a:endParaRPr>
          </a:p>
          <a:p>
            <a:pPr marL="342900" indent="-342900" algn="just">
              <a:buFont typeface="Arial"/>
              <a:buChar char="•"/>
            </a:pPr>
            <a:r>
              <a:rPr lang="en-US" sz="2000" b="1">
                <a:solidFill>
                  <a:schemeClr val="tx2">
                    <a:lumMod val="76000"/>
                    <a:lumOff val="24000"/>
                  </a:schemeClr>
                </a:solidFill>
                <a:ea typeface="+mn-lt"/>
                <a:cs typeface="+mn-lt"/>
              </a:rPr>
              <a:t>Institute root-cause tracking and feedback loops</a:t>
            </a:r>
            <a:r>
              <a:rPr lang="en-US" sz="2000">
                <a:solidFill>
                  <a:schemeClr val="tx2">
                    <a:lumMod val="76000"/>
                    <a:lumOff val="24000"/>
                  </a:schemeClr>
                </a:solidFill>
                <a:ea typeface="+mn-lt"/>
                <a:cs typeface="+mn-lt"/>
              </a:rPr>
              <a:t>: Whenever rejects occur, capture defect type , cause , corrective action, feed that back to operators, maintenance teams, and management.</a:t>
            </a:r>
          </a:p>
          <a:p>
            <a:pPr marL="342900" indent="-342900" algn="just">
              <a:buFont typeface="Arial"/>
              <a:buChar char="•"/>
            </a:pPr>
            <a:endParaRPr lang="en-US" sz="2000">
              <a:solidFill>
                <a:schemeClr val="tx2">
                  <a:lumMod val="76000"/>
                  <a:lumOff val="24000"/>
                </a:schemeClr>
              </a:solidFill>
              <a:ea typeface="+mn-lt"/>
              <a:cs typeface="+mn-lt"/>
            </a:endParaRPr>
          </a:p>
        </p:txBody>
      </p:sp>
    </p:spTree>
    <p:extLst>
      <p:ext uri="{BB962C8B-B14F-4D97-AF65-F5344CB8AC3E}">
        <p14:creationId xmlns:p14="http://schemas.microsoft.com/office/powerpoint/2010/main" val="249161754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bg>
      <p:bgPr>
        <a:blipFill>
          <a:blip r:embed="rId2"/>
          <a:stretch>
            <a:fillRect l="-2000" r="-2000"/>
          </a:stretch>
        </a:blipFill>
        <a:effectLst/>
      </p:bgPr>
    </p:bg>
    <p:spTree>
      <p:nvGrpSpPr>
        <p:cNvPr id="1" name="">
          <a:extLst>
            <a:ext uri="{FF2B5EF4-FFF2-40B4-BE49-F238E27FC236}">
              <a16:creationId xmlns:a16="http://schemas.microsoft.com/office/drawing/2014/main" id="{6856B372-8033-6F84-8CE3-8AB1897516C1}"/>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AD341D20-FBA9-A47E-D2D5-3F612BB08256}"/>
              </a:ext>
            </a:extLst>
          </p:cNvPr>
          <p:cNvSpPr txBox="1"/>
          <p:nvPr/>
        </p:nvSpPr>
        <p:spPr>
          <a:xfrm>
            <a:off x="3048000" y="638436"/>
            <a:ext cx="6096000" cy="46166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n-US" sz="2400" b="1">
                <a:solidFill>
                  <a:schemeClr val="tx2">
                    <a:lumMod val="90000"/>
                    <a:lumOff val="10000"/>
                  </a:schemeClr>
                </a:solidFill>
                <a:latin typeface="Aptos"/>
              </a:rPr>
              <a:t>INSIGHTS</a:t>
            </a:r>
            <a:endParaRPr lang="en-US" b="1">
              <a:solidFill>
                <a:schemeClr val="tx2">
                  <a:lumMod val="90000"/>
                  <a:lumOff val="10000"/>
                </a:schemeClr>
              </a:solidFill>
            </a:endParaRPr>
          </a:p>
        </p:txBody>
      </p:sp>
      <p:sp>
        <p:nvSpPr>
          <p:cNvPr id="3" name="TextBox 2">
            <a:extLst>
              <a:ext uri="{FF2B5EF4-FFF2-40B4-BE49-F238E27FC236}">
                <a16:creationId xmlns:a16="http://schemas.microsoft.com/office/drawing/2014/main" id="{82E6FAC4-E47B-9A1A-003D-4832BF4316EF}"/>
              </a:ext>
            </a:extLst>
          </p:cNvPr>
          <p:cNvSpPr txBox="1"/>
          <p:nvPr/>
        </p:nvSpPr>
        <p:spPr>
          <a:xfrm>
            <a:off x="712459" y="1101449"/>
            <a:ext cx="10770358" cy="4708981"/>
          </a:xfrm>
          <a:prstGeom prst="rect">
            <a:avLst/>
          </a:prstGeom>
          <a:noFill/>
        </p:spPr>
        <p:txBody>
          <a:bodyPr rot="0" spcFirstLastPara="0" vertOverflow="overflow" horzOverflow="overflow" vert="horz" wrap="square" lIns="91440" tIns="45720" rIns="91440" bIns="45720" numCol="1" spcCol="0" rtlCol="0" fromWordArt="0" anchor="ctr" anchorCtr="0" forceAA="0" compatLnSpc="1">
            <a:prstTxWarp prst="textNoShape">
              <a:avLst/>
            </a:prstTxWarp>
            <a:spAutoFit/>
          </a:bodyPr>
          <a:lstStyle/>
          <a:p>
            <a:pPr marL="342900" indent="-342900" algn="just">
              <a:buFont typeface="Arial"/>
              <a:buChar char="•"/>
            </a:pPr>
            <a:endParaRPr lang="en-US" sz="2000">
              <a:solidFill>
                <a:schemeClr val="tx2">
                  <a:lumMod val="76000"/>
                  <a:lumOff val="24000"/>
                </a:schemeClr>
              </a:solidFill>
            </a:endParaRPr>
          </a:p>
          <a:p>
            <a:pPr marL="285750" indent="-285750" algn="just">
              <a:buFont typeface="Arial"/>
              <a:buChar char="•"/>
            </a:pPr>
            <a:r>
              <a:rPr lang="en-US" sz="2000">
                <a:solidFill>
                  <a:schemeClr val="tx2">
                    <a:lumMod val="76000"/>
                    <a:lumOff val="24000"/>
                  </a:schemeClr>
                </a:solidFill>
                <a:ea typeface="+mn-lt"/>
                <a:cs typeface="+mn-lt"/>
              </a:rPr>
              <a:t>Total manufactured quantity : </a:t>
            </a:r>
            <a:r>
              <a:rPr lang="en-US" sz="2000" b="1">
                <a:solidFill>
                  <a:schemeClr val="tx2">
                    <a:lumMod val="76000"/>
                    <a:lumOff val="24000"/>
                  </a:schemeClr>
                </a:solidFill>
                <a:ea typeface="+mn-lt"/>
                <a:cs typeface="+mn-lt"/>
              </a:rPr>
              <a:t> 72.48 M</a:t>
            </a:r>
            <a:r>
              <a:rPr lang="en-US" sz="2000">
                <a:solidFill>
                  <a:schemeClr val="tx2">
                    <a:lumMod val="76000"/>
                    <a:lumOff val="24000"/>
                  </a:schemeClr>
                </a:solidFill>
                <a:ea typeface="+mn-lt"/>
                <a:cs typeface="+mn-lt"/>
              </a:rPr>
              <a:t> units.</a:t>
            </a:r>
          </a:p>
          <a:p>
            <a:pPr marL="285750" indent="-285750" algn="just">
              <a:buFont typeface="Arial"/>
              <a:buChar char="•"/>
            </a:pPr>
            <a:r>
              <a:rPr lang="en-US" sz="2000">
                <a:solidFill>
                  <a:schemeClr val="tx2">
                    <a:lumMod val="76000"/>
                    <a:lumOff val="24000"/>
                  </a:schemeClr>
                </a:solidFill>
                <a:ea typeface="+mn-lt"/>
                <a:cs typeface="+mn-lt"/>
              </a:rPr>
              <a:t>Total processed quantity: </a:t>
            </a:r>
            <a:r>
              <a:rPr lang="en-US" sz="2000" b="1">
                <a:solidFill>
                  <a:schemeClr val="tx2">
                    <a:lumMod val="76000"/>
                    <a:lumOff val="24000"/>
                  </a:schemeClr>
                </a:solidFill>
                <a:ea typeface="+mn-lt"/>
                <a:cs typeface="+mn-lt"/>
              </a:rPr>
              <a:t>72.04 M</a:t>
            </a:r>
            <a:r>
              <a:rPr lang="en-US" sz="2000">
                <a:solidFill>
                  <a:schemeClr val="tx2">
                    <a:lumMod val="76000"/>
                    <a:lumOff val="24000"/>
                  </a:schemeClr>
                </a:solidFill>
                <a:ea typeface="+mn-lt"/>
                <a:cs typeface="+mn-lt"/>
              </a:rPr>
              <a:t>  so most manufactured units are processed.</a:t>
            </a:r>
            <a:endParaRPr lang="en-US" sz="2000">
              <a:solidFill>
                <a:schemeClr val="tx2">
                  <a:lumMod val="76000"/>
                  <a:lumOff val="24000"/>
                </a:schemeClr>
              </a:solidFill>
            </a:endParaRPr>
          </a:p>
          <a:p>
            <a:pPr marL="285750" indent="-285750" algn="just">
              <a:buFont typeface="Arial"/>
              <a:buChar char="•"/>
            </a:pPr>
            <a:r>
              <a:rPr lang="en-US" sz="2000">
                <a:solidFill>
                  <a:schemeClr val="tx2">
                    <a:lumMod val="76000"/>
                    <a:lumOff val="24000"/>
                  </a:schemeClr>
                </a:solidFill>
                <a:ea typeface="+mn-lt"/>
                <a:cs typeface="+mn-lt"/>
              </a:rPr>
              <a:t>Total rejected quantity: </a:t>
            </a:r>
            <a:r>
              <a:rPr lang="en-US" sz="2000" b="1">
                <a:solidFill>
                  <a:schemeClr val="tx2">
                    <a:lumMod val="76000"/>
                    <a:lumOff val="24000"/>
                  </a:schemeClr>
                </a:solidFill>
                <a:ea typeface="+mn-lt"/>
                <a:cs typeface="+mn-lt"/>
              </a:rPr>
              <a:t> 0.44 M</a:t>
            </a:r>
            <a:r>
              <a:rPr lang="en-US" sz="2000">
                <a:solidFill>
                  <a:schemeClr val="tx2">
                    <a:lumMod val="76000"/>
                    <a:lumOff val="24000"/>
                  </a:schemeClr>
                </a:solidFill>
                <a:ea typeface="+mn-lt"/>
                <a:cs typeface="+mn-lt"/>
              </a:rPr>
              <a:t> units.</a:t>
            </a:r>
            <a:endParaRPr lang="en-US" sz="2000">
              <a:solidFill>
                <a:schemeClr val="tx2">
                  <a:lumMod val="76000"/>
                  <a:lumOff val="24000"/>
                </a:schemeClr>
              </a:solidFill>
            </a:endParaRPr>
          </a:p>
          <a:p>
            <a:pPr marL="285750" indent="-285750" algn="just">
              <a:buFont typeface="Arial"/>
              <a:buChar char="•"/>
            </a:pPr>
            <a:r>
              <a:rPr lang="en-US" sz="2000">
                <a:solidFill>
                  <a:schemeClr val="tx2">
                    <a:lumMod val="76000"/>
                    <a:lumOff val="24000"/>
                  </a:schemeClr>
                </a:solidFill>
                <a:ea typeface="+mn-lt"/>
                <a:cs typeface="+mn-lt"/>
              </a:rPr>
              <a:t>Total Wastage Qty :</a:t>
            </a:r>
            <a:r>
              <a:rPr lang="en-US" sz="2000" b="1">
                <a:solidFill>
                  <a:schemeClr val="tx2">
                    <a:lumMod val="76000"/>
                    <a:lumOff val="24000"/>
                  </a:schemeClr>
                </a:solidFill>
                <a:ea typeface="+mn-lt"/>
                <a:cs typeface="+mn-lt"/>
              </a:rPr>
              <a:t> 69</a:t>
            </a:r>
            <a:r>
              <a:rPr lang="en-US" sz="2000">
                <a:solidFill>
                  <a:schemeClr val="tx2">
                    <a:lumMod val="76000"/>
                    <a:lumOff val="24000"/>
                  </a:schemeClr>
                </a:solidFill>
                <a:ea typeface="+mn-lt"/>
                <a:cs typeface="+mn-lt"/>
              </a:rPr>
              <a:t> relatively small compared to totals.</a:t>
            </a:r>
            <a:endParaRPr lang="en-US" sz="2000">
              <a:solidFill>
                <a:schemeClr val="tx2">
                  <a:lumMod val="76000"/>
                  <a:lumOff val="24000"/>
                </a:schemeClr>
              </a:solidFill>
            </a:endParaRPr>
          </a:p>
          <a:p>
            <a:pPr marL="285750" indent="-285750" algn="just">
              <a:buFont typeface="Arial"/>
              <a:buChar char="•"/>
            </a:pPr>
            <a:r>
              <a:rPr lang="en-US" sz="2000">
                <a:solidFill>
                  <a:schemeClr val="tx2">
                    <a:lumMod val="76000"/>
                    <a:lumOff val="24000"/>
                  </a:schemeClr>
                </a:solidFill>
                <a:ea typeface="+mn-lt"/>
                <a:cs typeface="+mn-lt"/>
              </a:rPr>
              <a:t>A breakdown of rejections by employee shows one outlier one employee with 437,917 rejects far above others with 500, 350.</a:t>
            </a:r>
            <a:endParaRPr lang="en-US" sz="2000">
              <a:solidFill>
                <a:schemeClr val="tx2">
                  <a:lumMod val="76000"/>
                  <a:lumOff val="24000"/>
                </a:schemeClr>
              </a:solidFill>
            </a:endParaRPr>
          </a:p>
          <a:p>
            <a:pPr marL="285750" indent="-285750" algn="just">
              <a:buFont typeface="Arial"/>
              <a:buChar char="•"/>
            </a:pPr>
            <a:r>
              <a:rPr lang="en-US" sz="2000">
                <a:solidFill>
                  <a:schemeClr val="tx2">
                    <a:lumMod val="76000"/>
                    <a:lumOff val="24000"/>
                  </a:schemeClr>
                </a:solidFill>
                <a:ea typeface="+mn-lt"/>
                <a:cs typeface="+mn-lt"/>
              </a:rPr>
              <a:t>Top 10 machine-wise rejected qty: shows some machines with high reject counts like “C007” at </a:t>
            </a:r>
            <a:r>
              <a:rPr lang="en-US" sz="2000" b="1">
                <a:solidFill>
                  <a:schemeClr val="tx2">
                    <a:lumMod val="76000"/>
                    <a:lumOff val="24000"/>
                  </a:schemeClr>
                </a:solidFill>
                <a:ea typeface="+mn-lt"/>
                <a:cs typeface="+mn-lt"/>
              </a:rPr>
              <a:t>27k </a:t>
            </a:r>
            <a:r>
              <a:rPr lang="en-US" sz="2000">
                <a:solidFill>
                  <a:schemeClr val="tx2">
                    <a:lumMod val="76000"/>
                    <a:lumOff val="24000"/>
                  </a:schemeClr>
                </a:solidFill>
                <a:ea typeface="+mn-lt"/>
                <a:cs typeface="+mn-lt"/>
              </a:rPr>
              <a:t>rejects, then others 26k, 22k.</a:t>
            </a:r>
          </a:p>
          <a:p>
            <a:pPr marL="285750" indent="-285750" algn="just">
              <a:buFont typeface="Arial"/>
              <a:buChar char="•"/>
            </a:pPr>
            <a:r>
              <a:rPr lang="en-US" sz="2000">
                <a:solidFill>
                  <a:schemeClr val="tx2">
                    <a:lumMod val="76000"/>
                    <a:lumOff val="24000"/>
                  </a:schemeClr>
                </a:solidFill>
              </a:rPr>
              <a:t>Department wise rejected shows that </a:t>
            </a:r>
            <a:r>
              <a:rPr lang="en-US" sz="2000">
                <a:solidFill>
                  <a:schemeClr val="tx2">
                    <a:lumMod val="76000"/>
                    <a:lumOff val="24000"/>
                  </a:schemeClr>
                </a:solidFill>
                <a:ea typeface="+mn-lt"/>
                <a:cs typeface="+mn-lt"/>
              </a:rPr>
              <a:t>Woven Labels produces a very large share of total output  but also results in the bulk of rejects where as Printed labels has much lower rejects relative to its output.</a:t>
            </a:r>
            <a:endParaRPr lang="en-US" sz="2000">
              <a:solidFill>
                <a:schemeClr val="tx2">
                  <a:lumMod val="76000"/>
                  <a:lumOff val="24000"/>
                </a:schemeClr>
              </a:solidFill>
            </a:endParaRPr>
          </a:p>
          <a:p>
            <a:pPr marL="285750" indent="-285750" algn="just">
              <a:buFont typeface="Arial"/>
              <a:buChar char="•"/>
            </a:pPr>
            <a:r>
              <a:rPr lang="en-US" sz="2000">
                <a:solidFill>
                  <a:schemeClr val="tx2">
                    <a:lumMod val="76000"/>
                    <a:lumOff val="24000"/>
                  </a:schemeClr>
                </a:solidFill>
                <a:ea typeface="+mn-lt"/>
                <a:cs typeface="+mn-lt"/>
              </a:rPr>
              <a:t>overall reject rate is low about </a:t>
            </a:r>
            <a:r>
              <a:rPr lang="en-US" sz="2000" b="1">
                <a:solidFill>
                  <a:schemeClr val="tx2">
                    <a:lumMod val="76000"/>
                    <a:lumOff val="24000"/>
                  </a:schemeClr>
                </a:solidFill>
                <a:ea typeface="+mn-lt"/>
                <a:cs typeface="+mn-lt"/>
              </a:rPr>
              <a:t>0.6%</a:t>
            </a:r>
            <a:r>
              <a:rPr lang="en-US" sz="2000">
                <a:solidFill>
                  <a:schemeClr val="tx2">
                    <a:lumMod val="76000"/>
                    <a:lumOff val="24000"/>
                  </a:schemeClr>
                </a:solidFill>
                <a:ea typeface="+mn-lt"/>
                <a:cs typeface="+mn-lt"/>
              </a:rPr>
              <a:t> of total production, the rejects are highly concentrated in a few machines and a very few employees.</a:t>
            </a:r>
            <a:endParaRPr lang="en-US" sz="2000">
              <a:solidFill>
                <a:schemeClr val="tx2">
                  <a:lumMod val="76000"/>
                  <a:lumOff val="24000"/>
                </a:schemeClr>
              </a:solidFill>
            </a:endParaRPr>
          </a:p>
          <a:p>
            <a:pPr marL="342900" indent="-342900" algn="just">
              <a:buFont typeface="Arial"/>
              <a:buChar char="•"/>
            </a:pPr>
            <a:endParaRPr lang="en-US" sz="2000" b="1">
              <a:solidFill>
                <a:schemeClr val="tx2">
                  <a:lumMod val="76000"/>
                  <a:lumOff val="24000"/>
                </a:schemeClr>
              </a:solidFill>
              <a:ea typeface="+mn-lt"/>
              <a:cs typeface="+mn-lt"/>
            </a:endParaRPr>
          </a:p>
        </p:txBody>
      </p:sp>
    </p:spTree>
    <p:extLst>
      <p:ext uri="{BB962C8B-B14F-4D97-AF65-F5344CB8AC3E}">
        <p14:creationId xmlns:p14="http://schemas.microsoft.com/office/powerpoint/2010/main" val="379614403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bg>
      <p:bgPr>
        <a:blipFill>
          <a:blip r:embed="rId2"/>
          <a:stretch>
            <a:fillRect l="-2000" r="-2000"/>
          </a:stretch>
        </a:blip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9BBFC9EF-9790-A08F-B3F6-AEAAE68C5388}"/>
              </a:ext>
            </a:extLst>
          </p:cNvPr>
          <p:cNvSpPr txBox="1"/>
          <p:nvPr/>
        </p:nvSpPr>
        <p:spPr>
          <a:xfrm>
            <a:off x="3048000" y="698804"/>
            <a:ext cx="6096000" cy="46166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n-US" sz="2400" b="1">
                <a:solidFill>
                  <a:schemeClr val="tx2">
                    <a:lumMod val="90000"/>
                    <a:lumOff val="10000"/>
                  </a:schemeClr>
                </a:solidFill>
                <a:latin typeface="Aptos"/>
              </a:rPr>
              <a:t>CONCLUSION</a:t>
            </a:r>
            <a:endParaRPr lang="en-US" b="1">
              <a:solidFill>
                <a:schemeClr val="tx2">
                  <a:lumMod val="90000"/>
                  <a:lumOff val="10000"/>
                </a:schemeClr>
              </a:solidFill>
            </a:endParaRPr>
          </a:p>
        </p:txBody>
      </p:sp>
      <p:sp>
        <p:nvSpPr>
          <p:cNvPr id="4" name="TextBox 3">
            <a:extLst>
              <a:ext uri="{FF2B5EF4-FFF2-40B4-BE49-F238E27FC236}">
                <a16:creationId xmlns:a16="http://schemas.microsoft.com/office/drawing/2014/main" id="{C5014DFF-F6A6-E579-C5EC-8E4DE979A5C1}"/>
              </a:ext>
            </a:extLst>
          </p:cNvPr>
          <p:cNvSpPr txBox="1"/>
          <p:nvPr/>
        </p:nvSpPr>
        <p:spPr>
          <a:xfrm>
            <a:off x="734210" y="1551681"/>
            <a:ext cx="10719394" cy="3754874"/>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342900" indent="-342900">
              <a:buFont typeface="Wingdings"/>
              <a:buChar char="§"/>
            </a:pPr>
            <a:r>
              <a:rPr lang="en-US" sz="2000">
                <a:solidFill>
                  <a:schemeClr val="tx2">
                    <a:lumMod val="76000"/>
                    <a:lumOff val="24000"/>
                  </a:schemeClr>
                </a:solidFill>
                <a:ea typeface="+mn-lt"/>
                <a:cs typeface="+mn-lt"/>
              </a:rPr>
              <a:t>Overall production performance remained strong, but quality-related issues need focused attention.</a:t>
            </a:r>
            <a:endParaRPr lang="en-US" sz="2000">
              <a:solidFill>
                <a:schemeClr val="tx2">
                  <a:lumMod val="76000"/>
                  <a:lumOff val="24000"/>
                </a:schemeClr>
              </a:solidFill>
            </a:endParaRPr>
          </a:p>
          <a:p>
            <a:pPr marL="342900" indent="-342900">
              <a:buFont typeface="Wingdings"/>
              <a:buChar char="§"/>
            </a:pPr>
            <a:endParaRPr lang="en-US" sz="2000">
              <a:solidFill>
                <a:schemeClr val="tx2">
                  <a:lumMod val="76000"/>
                  <a:lumOff val="24000"/>
                </a:schemeClr>
              </a:solidFill>
            </a:endParaRPr>
          </a:p>
          <a:p>
            <a:pPr marL="342900" indent="-342900">
              <a:buFont typeface="Wingdings"/>
              <a:buChar char="§"/>
            </a:pPr>
            <a:r>
              <a:rPr lang="en-US" sz="2000">
                <a:solidFill>
                  <a:schemeClr val="tx2">
                    <a:lumMod val="76000"/>
                    <a:lumOff val="24000"/>
                  </a:schemeClr>
                </a:solidFill>
                <a:ea typeface="+mn-lt"/>
                <a:cs typeface="+mn-lt"/>
              </a:rPr>
              <a:t>The majority of rejections were concentrated in a few machines and operators, making corrective actions easier to target.</a:t>
            </a:r>
            <a:endParaRPr lang="en-US" sz="2000">
              <a:solidFill>
                <a:schemeClr val="tx2">
                  <a:lumMod val="76000"/>
                  <a:lumOff val="24000"/>
                </a:schemeClr>
              </a:solidFill>
            </a:endParaRPr>
          </a:p>
          <a:p>
            <a:pPr marL="342900" indent="-342900">
              <a:buFont typeface="Wingdings"/>
              <a:buChar char="§"/>
            </a:pPr>
            <a:endParaRPr lang="en-US" sz="2000">
              <a:solidFill>
                <a:schemeClr val="tx2">
                  <a:lumMod val="76000"/>
                  <a:lumOff val="24000"/>
                </a:schemeClr>
              </a:solidFill>
            </a:endParaRPr>
          </a:p>
          <a:p>
            <a:pPr marL="342900" indent="-342900">
              <a:buFont typeface="Wingdings"/>
              <a:buChar char="§"/>
            </a:pPr>
            <a:r>
              <a:rPr lang="en-US" sz="2000">
                <a:solidFill>
                  <a:schemeClr val="tx2">
                    <a:lumMod val="76000"/>
                    <a:lumOff val="24000"/>
                  </a:schemeClr>
                </a:solidFill>
                <a:ea typeface="+mn-lt"/>
                <a:cs typeface="+mn-lt"/>
              </a:rPr>
              <a:t>Enhancing training, strengthening machine maintenance, and improving planning can significantly reduce rejections.</a:t>
            </a:r>
            <a:endParaRPr lang="en-US" sz="2000">
              <a:solidFill>
                <a:schemeClr val="tx2">
                  <a:lumMod val="76000"/>
                  <a:lumOff val="24000"/>
                </a:schemeClr>
              </a:solidFill>
            </a:endParaRPr>
          </a:p>
          <a:p>
            <a:pPr marL="342900" indent="-342900">
              <a:buFont typeface="Wingdings"/>
              <a:buChar char="§"/>
            </a:pPr>
            <a:endParaRPr lang="en-US" sz="2000">
              <a:solidFill>
                <a:schemeClr val="tx2">
                  <a:lumMod val="76000"/>
                  <a:lumOff val="24000"/>
                </a:schemeClr>
              </a:solidFill>
            </a:endParaRPr>
          </a:p>
          <a:p>
            <a:pPr marL="342900" indent="-342900">
              <a:buFont typeface="Wingdings"/>
              <a:buChar char="§"/>
            </a:pPr>
            <a:r>
              <a:rPr lang="en-US" sz="2000">
                <a:solidFill>
                  <a:schemeClr val="tx2">
                    <a:lumMod val="76000"/>
                    <a:lumOff val="24000"/>
                  </a:schemeClr>
                </a:solidFill>
                <a:ea typeface="+mn-lt"/>
                <a:cs typeface="+mn-lt"/>
              </a:rPr>
              <a:t>With targeted improvements, the company can further stabilize production and improve operational efficiency.</a:t>
            </a:r>
            <a:endParaRPr lang="en-US" sz="2000">
              <a:solidFill>
                <a:schemeClr val="tx2">
                  <a:lumMod val="76000"/>
                  <a:lumOff val="24000"/>
                </a:schemeClr>
              </a:solidFill>
            </a:endParaRPr>
          </a:p>
          <a:p>
            <a:pPr algn="ctr"/>
            <a:endParaRPr lang="en-US">
              <a:solidFill>
                <a:schemeClr val="tx2">
                  <a:lumMod val="76000"/>
                  <a:lumOff val="24000"/>
                </a:schemeClr>
              </a:solidFill>
            </a:endParaRPr>
          </a:p>
        </p:txBody>
      </p:sp>
    </p:spTree>
    <p:extLst>
      <p:ext uri="{BB962C8B-B14F-4D97-AF65-F5344CB8AC3E}">
        <p14:creationId xmlns:p14="http://schemas.microsoft.com/office/powerpoint/2010/main" val="323327667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bg>
      <p:bgPr>
        <a:blipFill>
          <a:blip r:embed="rId2"/>
          <a:stretch>
            <a:fillRect l="-2000" r="-2000"/>
          </a:stretch>
        </a:blip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D6A5C695-E7B7-2D10-9020-F1D505EDC593}"/>
              </a:ext>
            </a:extLst>
          </p:cNvPr>
          <p:cNvSpPr txBox="1"/>
          <p:nvPr/>
        </p:nvSpPr>
        <p:spPr>
          <a:xfrm>
            <a:off x="4926606" y="693331"/>
            <a:ext cx="2429774" cy="46166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n-US" sz="2400" b="1">
                <a:solidFill>
                  <a:schemeClr val="tx2">
                    <a:lumMod val="90000"/>
                    <a:lumOff val="10000"/>
                  </a:schemeClr>
                </a:solidFill>
                <a:ea typeface="+mn-lt"/>
                <a:cs typeface="+mn-lt"/>
              </a:rPr>
              <a:t>CHALLENGES </a:t>
            </a:r>
            <a:endParaRPr lang="en-US" sz="2400" b="1">
              <a:solidFill>
                <a:schemeClr val="tx2">
                  <a:lumMod val="90000"/>
                  <a:lumOff val="10000"/>
                </a:schemeClr>
              </a:solidFill>
            </a:endParaRPr>
          </a:p>
        </p:txBody>
      </p:sp>
      <p:sp>
        <p:nvSpPr>
          <p:cNvPr id="3" name="TextBox 2">
            <a:extLst>
              <a:ext uri="{FF2B5EF4-FFF2-40B4-BE49-F238E27FC236}">
                <a16:creationId xmlns:a16="http://schemas.microsoft.com/office/drawing/2014/main" id="{9B4F40E2-27CA-0EE7-FDE4-4DB010B1A551}"/>
              </a:ext>
            </a:extLst>
          </p:cNvPr>
          <p:cNvSpPr txBox="1"/>
          <p:nvPr/>
        </p:nvSpPr>
        <p:spPr>
          <a:xfrm>
            <a:off x="905237" y="1839766"/>
            <a:ext cx="10492789" cy="2739211"/>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342900" indent="-342900">
              <a:buFont typeface="Wingdings"/>
              <a:buChar char="§"/>
            </a:pPr>
            <a:r>
              <a:rPr lang="en-US" sz="2000">
                <a:solidFill>
                  <a:schemeClr val="tx2">
                    <a:lumMod val="76000"/>
                    <a:lumOff val="24000"/>
                  </a:schemeClr>
                </a:solidFill>
                <a:ea typeface="+mn-lt"/>
                <a:cs typeface="+mn-lt"/>
              </a:rPr>
              <a:t>Cleaning and preparing the data took more effort than expected.</a:t>
            </a:r>
            <a:br>
              <a:rPr lang="en-US" sz="2000">
                <a:ea typeface="+mn-lt"/>
                <a:cs typeface="+mn-lt"/>
              </a:rPr>
            </a:br>
            <a:r>
              <a:rPr lang="en-US">
                <a:solidFill>
                  <a:schemeClr val="tx2">
                    <a:lumMod val="76000"/>
                    <a:lumOff val="24000"/>
                  </a:schemeClr>
                </a:solidFill>
                <a:ea typeface="+mn-lt"/>
                <a:cs typeface="+mn-lt"/>
              </a:rPr>
              <a:t>We had to identify essential columns and create accurate calculated fields using formulas.</a:t>
            </a:r>
          </a:p>
          <a:p>
            <a:pPr marL="342900" indent="-342900">
              <a:buFont typeface="Wingdings"/>
              <a:buChar char="§"/>
            </a:pPr>
            <a:endParaRPr lang="en-US" sz="2000">
              <a:solidFill>
                <a:schemeClr val="tx2">
                  <a:lumMod val="76000"/>
                  <a:lumOff val="24000"/>
                </a:schemeClr>
              </a:solidFill>
              <a:ea typeface="+mn-lt"/>
              <a:cs typeface="+mn-lt"/>
            </a:endParaRPr>
          </a:p>
          <a:p>
            <a:pPr marL="342900" indent="-342900">
              <a:buFont typeface="Wingdings"/>
              <a:buChar char="§"/>
            </a:pPr>
            <a:r>
              <a:rPr lang="en-US" sz="2000">
                <a:solidFill>
                  <a:schemeClr val="tx2">
                    <a:lumMod val="76000"/>
                    <a:lumOff val="24000"/>
                  </a:schemeClr>
                </a:solidFill>
                <a:ea typeface="+mn-lt"/>
                <a:cs typeface="+mn-lt"/>
              </a:rPr>
              <a:t>Understanding the dataset was a key challenge.</a:t>
            </a:r>
            <a:br>
              <a:rPr lang="en-US" sz="2000">
                <a:ea typeface="+mn-lt"/>
                <a:cs typeface="+mn-lt"/>
              </a:rPr>
            </a:br>
            <a:r>
              <a:rPr lang="en-US">
                <a:solidFill>
                  <a:schemeClr val="tx2">
                    <a:lumMod val="76000"/>
                    <a:lumOff val="24000"/>
                  </a:schemeClr>
                </a:solidFill>
                <a:ea typeface="+mn-lt"/>
                <a:cs typeface="+mn-lt"/>
              </a:rPr>
              <a:t>We spent time learning what each column represented and how they connected to the KPIs.</a:t>
            </a:r>
          </a:p>
          <a:p>
            <a:pPr marL="342900" indent="-342900">
              <a:buFont typeface="Wingdings"/>
              <a:buChar char="§"/>
            </a:pPr>
            <a:endParaRPr lang="en-US" sz="2000">
              <a:solidFill>
                <a:schemeClr val="tx2">
                  <a:lumMod val="76000"/>
                  <a:lumOff val="24000"/>
                </a:schemeClr>
              </a:solidFill>
              <a:ea typeface="+mn-lt"/>
              <a:cs typeface="+mn-lt"/>
            </a:endParaRPr>
          </a:p>
          <a:p>
            <a:pPr marL="342900" indent="-342900">
              <a:buFont typeface="Wingdings"/>
              <a:buChar char="§"/>
            </a:pPr>
            <a:r>
              <a:rPr lang="en-US" sz="2000">
                <a:solidFill>
                  <a:schemeClr val="tx2">
                    <a:lumMod val="76000"/>
                    <a:lumOff val="24000"/>
                  </a:schemeClr>
                </a:solidFill>
                <a:ea typeface="+mn-lt"/>
                <a:cs typeface="+mn-lt"/>
              </a:rPr>
              <a:t>Building the dashboard required several refinements.</a:t>
            </a:r>
            <a:br>
              <a:rPr lang="en-US" sz="2000">
                <a:ea typeface="+mn-lt"/>
                <a:cs typeface="+mn-lt"/>
              </a:rPr>
            </a:br>
            <a:r>
              <a:rPr lang="en-US">
                <a:solidFill>
                  <a:schemeClr val="tx2">
                    <a:lumMod val="76000"/>
                    <a:lumOff val="24000"/>
                  </a:schemeClr>
                </a:solidFill>
                <a:ea typeface="+mn-lt"/>
                <a:cs typeface="+mn-lt"/>
              </a:rPr>
              <a:t>Choosing suitable visuals and arranging them clearly took multiple iterations.</a:t>
            </a:r>
          </a:p>
          <a:p>
            <a:pPr marL="342900" indent="-342900">
              <a:buFont typeface="Wingdings"/>
              <a:buChar char="§"/>
            </a:pPr>
            <a:endParaRPr lang="en-US">
              <a:solidFill>
                <a:schemeClr val="tx2">
                  <a:lumMod val="76000"/>
                  <a:lumOff val="24000"/>
                </a:schemeClr>
              </a:solidFill>
              <a:ea typeface="+mn-lt"/>
              <a:cs typeface="+mn-lt"/>
            </a:endParaRPr>
          </a:p>
        </p:txBody>
      </p:sp>
    </p:spTree>
    <p:extLst>
      <p:ext uri="{BB962C8B-B14F-4D97-AF65-F5344CB8AC3E}">
        <p14:creationId xmlns:p14="http://schemas.microsoft.com/office/powerpoint/2010/main" val="113200575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bg>
      <p:bgPr>
        <a:blipFill>
          <a:blip r:embed="rId2"/>
          <a:stretch>
            <a:fillRect l="-2000" r="-2000"/>
          </a:stretch>
        </a:blipFill>
        <a:effectLst/>
      </p:bgPr>
    </p:bg>
    <p:spTree>
      <p:nvGrpSpPr>
        <p:cNvPr id="1" name="">
          <a:extLst>
            <a:ext uri="{FF2B5EF4-FFF2-40B4-BE49-F238E27FC236}">
              <a16:creationId xmlns:a16="http://schemas.microsoft.com/office/drawing/2014/main" id="{D81A0592-57B8-89D4-FEF2-E4716C916D9D}"/>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5E36A4D3-469F-B294-D411-8AEB9AD8B0D0}"/>
              </a:ext>
            </a:extLst>
          </p:cNvPr>
          <p:cNvSpPr txBox="1"/>
          <p:nvPr/>
        </p:nvSpPr>
        <p:spPr>
          <a:xfrm>
            <a:off x="4833895" y="680806"/>
            <a:ext cx="2537604" cy="46166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n-US" sz="2400" b="1">
                <a:solidFill>
                  <a:schemeClr val="tx2">
                    <a:lumMod val="90000"/>
                    <a:lumOff val="10000"/>
                  </a:schemeClr>
                </a:solidFill>
                <a:latin typeface="Aptos"/>
              </a:rPr>
              <a:t>LEARNINGS</a:t>
            </a:r>
          </a:p>
        </p:txBody>
      </p:sp>
      <p:sp>
        <p:nvSpPr>
          <p:cNvPr id="5" name="TextBox 4">
            <a:extLst>
              <a:ext uri="{FF2B5EF4-FFF2-40B4-BE49-F238E27FC236}">
                <a16:creationId xmlns:a16="http://schemas.microsoft.com/office/drawing/2014/main" id="{67D46183-F9E6-F3C9-CDDC-7B0BE41166DA}"/>
              </a:ext>
            </a:extLst>
          </p:cNvPr>
          <p:cNvSpPr txBox="1"/>
          <p:nvPr/>
        </p:nvSpPr>
        <p:spPr>
          <a:xfrm>
            <a:off x="1149655" y="1718563"/>
            <a:ext cx="9901065" cy="3139321"/>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342900" indent="-342900">
              <a:buFont typeface="Wingdings"/>
              <a:buChar char="§"/>
            </a:pPr>
            <a:r>
              <a:rPr lang="en-US" sz="2000">
                <a:solidFill>
                  <a:schemeClr val="tx2">
                    <a:lumMod val="76000"/>
                    <a:lumOff val="24000"/>
                  </a:schemeClr>
                </a:solidFill>
                <a:ea typeface="+mn-lt"/>
                <a:cs typeface="+mn-lt"/>
              </a:rPr>
              <a:t>Gained strong skills in data cleaning and transformation using Excel and MySQL.</a:t>
            </a:r>
            <a:endParaRPr lang="en-US" sz="2000">
              <a:solidFill>
                <a:schemeClr val="tx2">
                  <a:lumMod val="76000"/>
                  <a:lumOff val="24000"/>
                </a:schemeClr>
              </a:solidFill>
            </a:endParaRPr>
          </a:p>
          <a:p>
            <a:endParaRPr lang="en-US" sz="2000">
              <a:solidFill>
                <a:schemeClr val="tx2">
                  <a:lumMod val="76000"/>
                  <a:lumOff val="24000"/>
                </a:schemeClr>
              </a:solidFill>
              <a:ea typeface="+mn-lt"/>
              <a:cs typeface="+mn-lt"/>
            </a:endParaRPr>
          </a:p>
          <a:p>
            <a:pPr marL="342900" indent="-342900">
              <a:buFont typeface="Wingdings"/>
              <a:buChar char="§"/>
            </a:pPr>
            <a:r>
              <a:rPr lang="en-US" sz="2000">
                <a:solidFill>
                  <a:schemeClr val="tx2">
                    <a:lumMod val="76000"/>
                    <a:lumOff val="24000"/>
                  </a:schemeClr>
                </a:solidFill>
                <a:ea typeface="+mn-lt"/>
                <a:cs typeface="+mn-lt"/>
              </a:rPr>
              <a:t>Improved Power BI skills for creating KPIs, visuals, and interactive dashboards.</a:t>
            </a:r>
            <a:endParaRPr lang="en-US" sz="2000">
              <a:solidFill>
                <a:schemeClr val="tx2">
                  <a:lumMod val="76000"/>
                  <a:lumOff val="24000"/>
                </a:schemeClr>
              </a:solidFill>
            </a:endParaRPr>
          </a:p>
          <a:p>
            <a:pPr marL="342900" indent="-342900">
              <a:buFont typeface="Wingdings"/>
              <a:buChar char="§"/>
            </a:pPr>
            <a:endParaRPr lang="en-US" sz="2000">
              <a:solidFill>
                <a:schemeClr val="tx2">
                  <a:lumMod val="76000"/>
                  <a:lumOff val="24000"/>
                </a:schemeClr>
              </a:solidFill>
              <a:ea typeface="+mn-lt"/>
              <a:cs typeface="+mn-lt"/>
            </a:endParaRPr>
          </a:p>
          <a:p>
            <a:pPr marL="342900" indent="-342900">
              <a:buFont typeface="Wingdings"/>
              <a:buChar char="§"/>
            </a:pPr>
            <a:r>
              <a:rPr lang="en-US" sz="2000">
                <a:solidFill>
                  <a:schemeClr val="tx2">
                    <a:lumMod val="76000"/>
                    <a:lumOff val="24000"/>
                  </a:schemeClr>
                </a:solidFill>
                <a:ea typeface="+mn-lt"/>
                <a:cs typeface="+mn-lt"/>
              </a:rPr>
              <a:t>Understood the importance of data standardization and documentation.</a:t>
            </a:r>
            <a:endParaRPr lang="en-US" sz="2000">
              <a:solidFill>
                <a:schemeClr val="tx2">
                  <a:lumMod val="76000"/>
                  <a:lumOff val="24000"/>
                </a:schemeClr>
              </a:solidFill>
            </a:endParaRPr>
          </a:p>
          <a:p>
            <a:pPr marL="342900" indent="-342900">
              <a:buFont typeface="Wingdings"/>
              <a:buChar char="§"/>
            </a:pPr>
            <a:endParaRPr lang="en-US" sz="2000">
              <a:solidFill>
                <a:schemeClr val="tx2">
                  <a:lumMod val="76000"/>
                  <a:lumOff val="24000"/>
                </a:schemeClr>
              </a:solidFill>
              <a:ea typeface="+mn-lt"/>
              <a:cs typeface="+mn-lt"/>
            </a:endParaRPr>
          </a:p>
          <a:p>
            <a:pPr marL="342900" indent="-342900">
              <a:buFont typeface="Wingdings"/>
              <a:buChar char="§"/>
            </a:pPr>
            <a:r>
              <a:rPr lang="en-US" sz="2000">
                <a:solidFill>
                  <a:schemeClr val="tx2">
                    <a:lumMod val="76000"/>
                    <a:lumOff val="24000"/>
                  </a:schemeClr>
                </a:solidFill>
                <a:ea typeface="+mn-lt"/>
                <a:cs typeface="+mn-lt"/>
              </a:rPr>
              <a:t>Enhanced teamwork, communication, and problem-solving during real project challenges.</a:t>
            </a:r>
          </a:p>
          <a:p>
            <a:pPr marL="342900" indent="-342900">
              <a:buFont typeface="Wingdings"/>
              <a:buChar char="§"/>
            </a:pPr>
            <a:endParaRPr lang="en-US" sz="2000">
              <a:solidFill>
                <a:schemeClr val="tx2">
                  <a:lumMod val="76000"/>
                  <a:lumOff val="24000"/>
                </a:schemeClr>
              </a:solidFill>
            </a:endParaRPr>
          </a:p>
          <a:p>
            <a:endParaRPr lang="en-US">
              <a:solidFill>
                <a:schemeClr val="tx2">
                  <a:lumMod val="76000"/>
                  <a:lumOff val="24000"/>
                </a:schemeClr>
              </a:solidFill>
              <a:ea typeface="+mn-lt"/>
              <a:cs typeface="+mn-lt"/>
            </a:endParaRPr>
          </a:p>
        </p:txBody>
      </p:sp>
    </p:spTree>
    <p:extLst>
      <p:ext uri="{BB962C8B-B14F-4D97-AF65-F5344CB8AC3E}">
        <p14:creationId xmlns:p14="http://schemas.microsoft.com/office/powerpoint/2010/main" val="391175945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bg>
      <p:bgPr>
        <a:blipFill>
          <a:blip r:embed="rId2"/>
          <a:stretch>
            <a:fillRect l="-2000" r="-2000"/>
          </a:stretch>
        </a:blipFill>
        <a:effectLst/>
      </p:bgPr>
    </p:bg>
    <p:spTree>
      <p:nvGrpSpPr>
        <p:cNvPr id="1" name="">
          <a:extLst>
            <a:ext uri="{FF2B5EF4-FFF2-40B4-BE49-F238E27FC236}">
              <a16:creationId xmlns:a16="http://schemas.microsoft.com/office/drawing/2014/main" id="{EAC360C6-365A-2901-85F6-F72BB2BF0259}"/>
            </a:ext>
          </a:extLst>
        </p:cNvPr>
        <p:cNvGrpSpPr/>
        <p:nvPr/>
      </p:nvGrpSpPr>
      <p:grpSpPr>
        <a:xfrm>
          <a:off x="0" y="0"/>
          <a:ext cx="0" cy="0"/>
          <a:chOff x="0" y="0"/>
          <a:chExt cx="0" cy="0"/>
        </a:xfrm>
      </p:grpSpPr>
      <p:pic>
        <p:nvPicPr>
          <p:cNvPr id="3" name="Picture 2" descr="A screenshot of a dashboard&#10;&#10;AI-generated content may be incorrect.">
            <a:extLst>
              <a:ext uri="{FF2B5EF4-FFF2-40B4-BE49-F238E27FC236}">
                <a16:creationId xmlns:a16="http://schemas.microsoft.com/office/drawing/2014/main" id="{E6126F62-C1AF-E554-F023-1F290994C066}"/>
              </a:ext>
            </a:extLst>
          </p:cNvPr>
          <p:cNvPicPr>
            <a:picLocks noChangeAspect="1"/>
          </p:cNvPicPr>
          <p:nvPr/>
        </p:nvPicPr>
        <p:blipFill>
          <a:blip r:embed="rId3"/>
          <a:stretch>
            <a:fillRect/>
          </a:stretch>
        </p:blipFill>
        <p:spPr>
          <a:xfrm>
            <a:off x="127444" y="0"/>
            <a:ext cx="11937113" cy="6858000"/>
          </a:xfrm>
          <a:prstGeom prst="rect">
            <a:avLst/>
          </a:prstGeom>
        </p:spPr>
      </p:pic>
    </p:spTree>
    <p:extLst>
      <p:ext uri="{BB962C8B-B14F-4D97-AF65-F5344CB8AC3E}">
        <p14:creationId xmlns:p14="http://schemas.microsoft.com/office/powerpoint/2010/main" val="310487954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bg>
      <p:bgPr>
        <a:blipFill>
          <a:blip r:embed="rId2"/>
          <a:stretch>
            <a:fillRect l="-2000" r="-2000"/>
          </a:stretch>
        </a:blipFill>
        <a:effectLst/>
      </p:bgPr>
    </p:bg>
    <p:spTree>
      <p:nvGrpSpPr>
        <p:cNvPr id="1" name="">
          <a:extLst>
            <a:ext uri="{FF2B5EF4-FFF2-40B4-BE49-F238E27FC236}">
              <a16:creationId xmlns:a16="http://schemas.microsoft.com/office/drawing/2014/main" id="{9F1B5E05-AC26-50DC-4CDB-513CDE7EDEA1}"/>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4475AEC3-A31A-3891-F715-E9650F4178F7}"/>
              </a:ext>
            </a:extLst>
          </p:cNvPr>
          <p:cNvSpPr txBox="1"/>
          <p:nvPr/>
        </p:nvSpPr>
        <p:spPr>
          <a:xfrm>
            <a:off x="3048000" y="2623868"/>
            <a:ext cx="6096000" cy="1600438"/>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0" algn="ctr" rtl="0"/>
            <a:r>
              <a:rPr lang="en-US" sz="8000" b="1" kern="1200">
                <a:solidFill>
                  <a:schemeClr val="tx2"/>
                </a:solidFill>
                <a:latin typeface="Aptos Narrow"/>
                <a:ea typeface="+mn-ea"/>
                <a:cs typeface="+mn-cs"/>
              </a:rPr>
              <a:t>Thank You</a:t>
            </a:r>
          </a:p>
          <a:p>
            <a:pPr algn="ctr"/>
            <a:endParaRPr lang="en-US"/>
          </a:p>
        </p:txBody>
      </p:sp>
    </p:spTree>
    <p:extLst>
      <p:ext uri="{BB962C8B-B14F-4D97-AF65-F5344CB8AC3E}">
        <p14:creationId xmlns:p14="http://schemas.microsoft.com/office/powerpoint/2010/main" val="424626163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Theme">
      <a:majorFont>
        <a:latin typeface="Aptos Display"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ptos" panose="020B000402020202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office theme</Template>
  <TotalTime>0</TotalTime>
  <Words>924</Words>
  <Application>Microsoft Office PowerPoint</Application>
  <PresentationFormat>Widescreen</PresentationFormat>
  <Paragraphs>99</Paragraphs>
  <Slides>17</Slides>
  <Notes>0</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17</vt:i4>
      </vt:variant>
    </vt:vector>
  </HeadingPairs>
  <TitlesOfParts>
    <vt:vector size="24" baseType="lpstr">
      <vt:lpstr>Aptos</vt:lpstr>
      <vt:lpstr>Aptos Display</vt:lpstr>
      <vt:lpstr>Aptos Narrow</vt:lpstr>
      <vt:lpstr>Arial</vt:lpstr>
      <vt:lpstr>Calibri</vt:lpstr>
      <vt:lpstr>Wingdings</vt:lpstr>
      <vt:lpstr>office theme</vt:lpstr>
      <vt:lpstr>MANUFACTURING ANALYTICS </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hp</dc:creator>
  <cp:lastModifiedBy>rumais kt</cp:lastModifiedBy>
  <cp:revision>163</cp:revision>
  <dcterms:created xsi:type="dcterms:W3CDTF">2025-12-06T07:36:02Z</dcterms:created>
  <dcterms:modified xsi:type="dcterms:W3CDTF">2026-03-16T08:08:32Z</dcterms:modified>
</cp:coreProperties>
</file>